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프로그램 UI 구성요소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실행 순서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작업 순서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도면 4종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예시 모델과 부재 분할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제작도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조립도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설치도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가공도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값의 출처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도면별 Osnap 선별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Osnap 선별 엔진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동률일 때의 우선순위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치수 보조선 배치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제작도와 가공도의 배율 차이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치수 선별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각도 표시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설치 위치 치수 기준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부재 목록 수집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도면 BOM 표 작성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99349" y="2782347"/>
            <a:ext cx="6593252" cy="7035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5540"/>
              </a:lnSpc>
              <a:spcBef>
                <a:spcPts val="0"/>
              </a:spcBef>
              <a:spcAft>
                <a:spcPts val="0"/>
              </a:spcAft>
            </a:pPr>
            <a:r>
              <a:rPr sz="513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2D 자동 제작도 메뉴얼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242512" y="3664172"/>
            <a:ext cx="1706784" cy="411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59278" y="3883628"/>
            <a:ext cx="873394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134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570357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메뉴얼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570357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목차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22222" y="219456"/>
            <a:ext cx="782097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전체 22장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5264" y="2265711"/>
            <a:ext cx="10241422" cy="562356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75264" y="2265711"/>
            <a:ext cx="45720" cy="5623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009" y="2391441"/>
            <a:ext cx="316896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203"/>
              </a:lnSpc>
              <a:spcBef>
                <a:spcPts val="0"/>
              </a:spcBef>
              <a:spcAft>
                <a:spcPts val="0"/>
              </a:spcAft>
            </a:pPr>
            <a:r>
              <a:rPr sz="183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7930" y="2414301"/>
            <a:ext cx="1937956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sz="156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프로그램 UI 구성요소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17494" y="2464593"/>
            <a:ext cx="195024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971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1장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5264" y="2930937"/>
            <a:ext cx="10241422" cy="562356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75264" y="2930937"/>
            <a:ext cx="45720" cy="562356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009" y="3056667"/>
            <a:ext cx="316896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203"/>
              </a:lnSpc>
              <a:spcBef>
                <a:spcPts val="0"/>
              </a:spcBef>
              <a:spcAft>
                <a:spcPts val="0"/>
              </a:spcAft>
            </a:pPr>
            <a:r>
              <a:rPr sz="1836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7930" y="3079527"/>
            <a:ext cx="865536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sz="156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실행 순서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17494" y="3129819"/>
            <a:ext cx="195024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971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3장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5264" y="3596163"/>
            <a:ext cx="10241422" cy="562356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5264" y="3596163"/>
            <a:ext cx="45720" cy="5623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16009" y="3721893"/>
            <a:ext cx="316896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203"/>
              </a:lnSpc>
              <a:spcBef>
                <a:spcPts val="0"/>
              </a:spcBef>
              <a:spcAft>
                <a:spcPts val="0"/>
              </a:spcAft>
            </a:pPr>
            <a:r>
              <a:rPr sz="1836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7930" y="3744753"/>
            <a:ext cx="1064418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sz="156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결과물 도면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7494" y="3795045"/>
            <a:ext cx="195024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971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5장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5264" y="4261389"/>
            <a:ext cx="10241422" cy="562356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5264" y="4261389"/>
            <a:ext cx="45720" cy="562356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6009" y="4387119"/>
            <a:ext cx="316896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203"/>
              </a:lnSpc>
              <a:spcBef>
                <a:spcPts val="0"/>
              </a:spcBef>
              <a:spcAft>
                <a:spcPts val="0"/>
              </a:spcAft>
            </a:pPr>
            <a:r>
              <a:rPr sz="1836" b="1">
                <a:solidFill>
                  <a:srgbClr val="9333EA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27930" y="4409979"/>
            <a:ext cx="1532048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sz="156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도면 정보의 출처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17494" y="4460271"/>
            <a:ext cx="195024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971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1장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5264" y="4926615"/>
            <a:ext cx="10241422" cy="562356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5264" y="4926615"/>
            <a:ext cx="45720" cy="5623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16009" y="5052345"/>
            <a:ext cx="316896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203"/>
              </a:lnSpc>
              <a:spcBef>
                <a:spcPts val="0"/>
              </a:spcBef>
              <a:spcAft>
                <a:spcPts val="0"/>
              </a:spcAft>
            </a:pPr>
            <a:r>
              <a:rPr sz="1836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27930" y="5075205"/>
            <a:ext cx="397764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879"/>
              </a:lnSpc>
              <a:spcBef>
                <a:spcPts val="0"/>
              </a:spcBef>
              <a:spcAft>
                <a:spcPts val="0"/>
              </a:spcAft>
            </a:pPr>
            <a:r>
              <a:rPr sz="156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룰북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5914" y="5125497"/>
            <a:ext cx="266604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971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10장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2772203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메뉴얼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2772203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프로그램 UI 구성요소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19545" y="219456"/>
            <a:ext cx="484774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632" y="2082260"/>
            <a:ext cx="7091029" cy="3665601"/>
          </a:xfrm>
          <a:prstGeom prst="roundRect">
            <a:avLst>
              <a:gd name="adj" fmla="val 1995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faa852939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76" y="2091404"/>
            <a:ext cx="7072741" cy="3647313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2193988" y="2116407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352311" y="2203846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193988" y="2335149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1415891" y="2433589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2264711" y="3115675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2335434" y="3480435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5" name="Oval 14"/>
          <p:cNvSpPr/>
          <p:nvPr/>
        </p:nvSpPr>
        <p:spPr>
          <a:xfrm>
            <a:off x="2264711" y="3881628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6" name="Oval 15"/>
          <p:cNvSpPr/>
          <p:nvPr/>
        </p:nvSpPr>
        <p:spPr>
          <a:xfrm>
            <a:off x="2264711" y="4647580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17" name="Oval 16"/>
          <p:cNvSpPr/>
          <p:nvPr/>
        </p:nvSpPr>
        <p:spPr>
          <a:xfrm>
            <a:off x="1769649" y="5296804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18" name="Oval 17"/>
          <p:cNvSpPr/>
          <p:nvPr/>
        </p:nvSpPr>
        <p:spPr>
          <a:xfrm>
            <a:off x="3714607" y="2860357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9" name="Oval 18"/>
          <p:cNvSpPr/>
          <p:nvPr/>
        </p:nvSpPr>
        <p:spPr>
          <a:xfrm>
            <a:off x="4421838" y="3006232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20" name="Oval 19"/>
          <p:cNvSpPr/>
          <p:nvPr/>
        </p:nvSpPr>
        <p:spPr>
          <a:xfrm>
            <a:off x="7871126" y="1315593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4167" y="1305306"/>
            <a:ext cx="1263443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뷰 전환 · 초기화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4167" y="1512331"/>
            <a:ext cx="1263443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ISO · X · Y · Z축 전환</a:t>
            </a:r>
          </a:p>
        </p:txBody>
      </p:sp>
      <p:sp>
        <p:nvSpPr>
          <p:cNvPr id="23" name="Oval 22"/>
          <p:cNvSpPr/>
          <p:nvPr/>
        </p:nvSpPr>
        <p:spPr>
          <a:xfrm>
            <a:off x="7871126" y="1782079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4167" y="1771792"/>
            <a:ext cx="1065704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파일 열기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4167" y="1978818"/>
            <a:ext cx="1065704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3D 모델 불러오기</a:t>
            </a:r>
          </a:p>
        </p:txBody>
      </p:sp>
      <p:sp>
        <p:nvSpPr>
          <p:cNvPr id="26" name="Oval 25"/>
          <p:cNvSpPr/>
          <p:nvPr/>
        </p:nvSpPr>
        <p:spPr>
          <a:xfrm>
            <a:off x="7871126" y="2248566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4167" y="2238279"/>
            <a:ext cx="2374011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치수 추출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94167" y="2445305"/>
            <a:ext cx="2374011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부재 목록부터 시트 분할까지 자동 실행</a:t>
            </a:r>
          </a:p>
        </p:txBody>
      </p:sp>
      <p:sp>
        <p:nvSpPr>
          <p:cNvPr id="29" name="Oval 28"/>
          <p:cNvSpPr/>
          <p:nvPr/>
        </p:nvSpPr>
        <p:spPr>
          <a:xfrm>
            <a:off x="7871126" y="2715053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4167" y="2704766"/>
            <a:ext cx="2084403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탭 3개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4167" y="2911792"/>
            <a:ext cx="2084403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도면정보 · 작업/데이터 · 부재 정보</a:t>
            </a:r>
          </a:p>
        </p:txBody>
      </p:sp>
      <p:sp>
        <p:nvSpPr>
          <p:cNvPr id="32" name="Oval 31"/>
          <p:cNvSpPr/>
          <p:nvPr/>
        </p:nvSpPr>
        <p:spPr>
          <a:xfrm>
            <a:off x="7871126" y="3181540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4167" y="3171253"/>
            <a:ext cx="1637061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구조물 목록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4167" y="3378279"/>
            <a:ext cx="1637061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구조물 단위 선택 · 3D 강조</a:t>
            </a:r>
          </a:p>
        </p:txBody>
      </p:sp>
      <p:sp>
        <p:nvSpPr>
          <p:cNvPr id="35" name="Oval 34"/>
          <p:cNvSpPr/>
          <p:nvPr/>
        </p:nvSpPr>
        <p:spPr>
          <a:xfrm>
            <a:off x="7871126" y="3648027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4167" y="3637740"/>
            <a:ext cx="1477899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구조물 검색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4167" y="3844766"/>
            <a:ext cx="1477899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이름으로 찾아 화면 맞춤</a:t>
            </a:r>
          </a:p>
        </p:txBody>
      </p:sp>
      <p:sp>
        <p:nvSpPr>
          <p:cNvPr id="38" name="Oval 37"/>
          <p:cNvSpPr/>
          <p:nvPr/>
        </p:nvSpPr>
        <p:spPr>
          <a:xfrm>
            <a:off x="7871126" y="4114514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4167" y="4104227"/>
            <a:ext cx="2375011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도면 시트 목록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4167" y="4311253"/>
            <a:ext cx="2375011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도면번호 · 기준부재 · 포함부재 · 부재수</a:t>
            </a:r>
          </a:p>
        </p:txBody>
      </p:sp>
      <p:sp>
        <p:nvSpPr>
          <p:cNvPr id="41" name="Oval 40"/>
          <p:cNvSpPr/>
          <p:nvPr/>
        </p:nvSpPr>
        <p:spPr>
          <a:xfrm>
            <a:off x="7871126" y="4581001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4167" y="4570714"/>
            <a:ext cx="1753647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BOM 정보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4167" y="4777740"/>
            <a:ext cx="1753647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부재 목록 · 규격 · 재질 · 중량</a:t>
            </a:r>
          </a:p>
        </p:txBody>
      </p:sp>
      <p:sp>
        <p:nvSpPr>
          <p:cNvPr id="44" name="Oval 43"/>
          <p:cNvSpPr/>
          <p:nvPr/>
        </p:nvSpPr>
        <p:spPr>
          <a:xfrm>
            <a:off x="7871126" y="5047488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4167" y="5037201"/>
            <a:ext cx="3510153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출력 버튼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4167" y="5244226"/>
            <a:ext cx="3510153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가공도 · 2D 출력 · PDF 출력 · 일괄 출력 · 제작도 · 조립도 · 설치도</a:t>
            </a:r>
          </a:p>
        </p:txBody>
      </p:sp>
      <p:sp>
        <p:nvSpPr>
          <p:cNvPr id="47" name="Oval 46"/>
          <p:cNvSpPr/>
          <p:nvPr/>
        </p:nvSpPr>
        <p:spPr>
          <a:xfrm>
            <a:off x="7871126" y="5687710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4167" y="5677423"/>
            <a:ext cx="1908810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모델 트리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4167" y="5884449"/>
            <a:ext cx="1908810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구조물 → 부재 계층 · 표시 전환</a:t>
            </a:r>
          </a:p>
        </p:txBody>
      </p:sp>
      <p:sp>
        <p:nvSpPr>
          <p:cNvPr id="50" name="Oval 49"/>
          <p:cNvSpPr/>
          <p:nvPr/>
        </p:nvSpPr>
        <p:spPr>
          <a:xfrm>
            <a:off x="7871126" y="6154197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94167" y="6143910"/>
            <a:ext cx="1665636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3D 화면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4167" y="6350936"/>
            <a:ext cx="1665636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현재 표시 상태 = 도면 대상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1239012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메뉴얼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1239012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실행 순서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50082" y="219456"/>
            <a:ext cx="754237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사용 방법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632" y="2082260"/>
            <a:ext cx="7091029" cy="3665601"/>
          </a:xfrm>
          <a:prstGeom prst="roundRect">
            <a:avLst>
              <a:gd name="adj" fmla="val 1995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faa852939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76" y="2091404"/>
            <a:ext cx="7072741" cy="3647313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352311" y="2203846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2193988" y="2203846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264711" y="3881628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1069419" y="5150929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1451324" y="5150929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1861518" y="5468254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5" name="Oval 14"/>
          <p:cNvSpPr/>
          <p:nvPr/>
        </p:nvSpPr>
        <p:spPr>
          <a:xfrm>
            <a:off x="637936" y="5150929"/>
            <a:ext cx="212598" cy="212598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6" name="Oval 15"/>
          <p:cNvSpPr/>
          <p:nvPr/>
        </p:nvSpPr>
        <p:spPr>
          <a:xfrm>
            <a:off x="991552" y="5398960"/>
            <a:ext cx="212598" cy="212598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17" name="Oval 16"/>
          <p:cNvSpPr/>
          <p:nvPr/>
        </p:nvSpPr>
        <p:spPr>
          <a:xfrm>
            <a:off x="7871126" y="1392316"/>
            <a:ext cx="260604" cy="2606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5315" y="1382029"/>
            <a:ext cx="1312021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파일 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5315" y="1642633"/>
            <a:ext cx="1312021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3D 모델 불러오기</a:t>
            </a:r>
          </a:p>
        </p:txBody>
      </p:sp>
      <p:sp>
        <p:nvSpPr>
          <p:cNvPr id="20" name="Oval 19"/>
          <p:cNvSpPr/>
          <p:nvPr/>
        </p:nvSpPr>
        <p:spPr>
          <a:xfrm>
            <a:off x="7871126" y="2017680"/>
            <a:ext cx="260604" cy="2606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5315" y="2007393"/>
            <a:ext cx="3469005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치수 추출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5315" y="2267997"/>
            <a:ext cx="3469005" cy="4277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부재 목록 · 간섭 검사 · 기준점 · 치수 · 시트 분할 자동 진행</a:t>
            </a:r>
          </a:p>
        </p:txBody>
      </p:sp>
      <p:sp>
        <p:nvSpPr>
          <p:cNvPr id="23" name="Oval 22"/>
          <p:cNvSpPr/>
          <p:nvPr/>
        </p:nvSpPr>
        <p:spPr>
          <a:xfrm>
            <a:off x="7871126" y="2856928"/>
            <a:ext cx="260604" cy="2606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35315" y="2846641"/>
            <a:ext cx="2237851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시트 고르기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5315" y="3107245"/>
            <a:ext cx="2237851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뽑을 도면 선택 · 3D 자동 정렬</a:t>
            </a:r>
          </a:p>
        </p:txBody>
      </p:sp>
      <p:sp>
        <p:nvSpPr>
          <p:cNvPr id="26" name="Oval 25"/>
          <p:cNvSpPr/>
          <p:nvPr/>
        </p:nvSpPr>
        <p:spPr>
          <a:xfrm>
            <a:off x="7871126" y="3482292"/>
            <a:ext cx="260604" cy="2606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5315" y="3472005"/>
            <a:ext cx="2308574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2D 출력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5315" y="3732609"/>
            <a:ext cx="2308574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고른 시트 한 장을 2D 도면으로</a:t>
            </a:r>
          </a:p>
        </p:txBody>
      </p:sp>
      <p:sp>
        <p:nvSpPr>
          <p:cNvPr id="29" name="Oval 28"/>
          <p:cNvSpPr/>
          <p:nvPr/>
        </p:nvSpPr>
        <p:spPr>
          <a:xfrm>
            <a:off x="7871126" y="4107656"/>
            <a:ext cx="260604" cy="2606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5315" y="4097369"/>
            <a:ext cx="880824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PDF 출력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5315" y="4357973"/>
            <a:ext cx="880824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파일로 저장</a:t>
            </a:r>
          </a:p>
        </p:txBody>
      </p:sp>
      <p:sp>
        <p:nvSpPr>
          <p:cNvPr id="32" name="Oval 31"/>
          <p:cNvSpPr/>
          <p:nvPr/>
        </p:nvSpPr>
        <p:spPr>
          <a:xfrm>
            <a:off x="7871126" y="4733020"/>
            <a:ext cx="260604" cy="2606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5315" y="4722733"/>
            <a:ext cx="3110531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종류별 출력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35315" y="4983337"/>
            <a:ext cx="3110531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제작도 · 조립도 · 설치도를 종류째 한 번에</a:t>
            </a:r>
          </a:p>
        </p:txBody>
      </p:sp>
      <p:sp>
        <p:nvSpPr>
          <p:cNvPr id="35" name="Oval 34"/>
          <p:cNvSpPr/>
          <p:nvPr/>
        </p:nvSpPr>
        <p:spPr>
          <a:xfrm>
            <a:off x="7871126" y="5358384"/>
            <a:ext cx="260604" cy="2606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5315" y="5348097"/>
            <a:ext cx="2206561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가공도 — 별도 경로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5315" y="5608701"/>
            <a:ext cx="2206561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부재 목록만 있으면 바로 출력</a:t>
            </a:r>
          </a:p>
        </p:txBody>
      </p:sp>
      <p:sp>
        <p:nvSpPr>
          <p:cNvPr id="38" name="Oval 37"/>
          <p:cNvSpPr/>
          <p:nvPr/>
        </p:nvSpPr>
        <p:spPr>
          <a:xfrm>
            <a:off x="7871126" y="5983747"/>
            <a:ext cx="260604" cy="2606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5315" y="5973460"/>
            <a:ext cx="3190255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도면 일괄 출력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5315" y="6234064"/>
            <a:ext cx="3190255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네 종류 한 번에 · 취소 시 저장된 것만 유지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1284446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메뉴얼 · 작업 순서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1284446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작업 순서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22222" y="219456"/>
            <a:ext cx="782097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메뉴얼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059" y="474345"/>
            <a:ext cx="94126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기준일</a:t>
            </a:r>
            <a:r>
              <a:rPr sz="864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32" y="1088707"/>
            <a:ext cx="1121668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큰 흐름 — 버튼 다섯 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32" y="1312735"/>
            <a:ext cx="2077259" cy="935545"/>
          </a:xfrm>
          <a:prstGeom prst="roundRect">
            <a:avLst>
              <a:gd name="adj" fmla="val 7819"/>
            </a:avLst>
          </a:prstGeom>
          <a:solidFill>
            <a:srgbClr val="FFFFFF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7632" y="1312735"/>
            <a:ext cx="36576" cy="9355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225" y="1498044"/>
            <a:ext cx="1763506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1단계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225" y="1646634"/>
            <a:ext cx="1763506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파일 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225" y="1916382"/>
            <a:ext cx="1763506" cy="14658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54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3D 모델(.vizx / .viz)을 불러온다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7901" y="1312735"/>
            <a:ext cx="61579" cy="9355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404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2489" y="1312735"/>
            <a:ext cx="2077259" cy="935545"/>
          </a:xfrm>
          <a:prstGeom prst="roundRect">
            <a:avLst>
              <a:gd name="adj" fmla="val 7819"/>
            </a:avLst>
          </a:prstGeom>
          <a:solidFill>
            <a:srgbClr val="EAFAF4"/>
          </a:solidFill>
          <a:ln w="9144">
            <a:solidFill>
              <a:srgbClr val="BF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72489" y="1312735"/>
            <a:ext cx="36576" cy="935545"/>
          </a:xfrm>
          <a:prstGeom prst="rect">
            <a:avLst/>
          </a:prstGeom>
          <a:solidFill>
            <a:srgbClr val="BFE3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3082" y="1424749"/>
            <a:ext cx="1763506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2단계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3082" y="1573339"/>
            <a:ext cx="1763506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치수 추출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3082" y="1843087"/>
            <a:ext cx="1763506" cy="2931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4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한 번 누르면 아래 다섯 가지가 자동으로 이어진다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2758" y="1312735"/>
            <a:ext cx="61579" cy="9355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404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7346" y="1312735"/>
            <a:ext cx="2077259" cy="935545"/>
          </a:xfrm>
          <a:prstGeom prst="roundRect">
            <a:avLst>
              <a:gd name="adj" fmla="val 7819"/>
            </a:avLst>
          </a:prstGeom>
          <a:solidFill>
            <a:srgbClr val="FFFFFF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57346" y="1312735"/>
            <a:ext cx="36576" cy="9355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7939" y="1424749"/>
            <a:ext cx="1763506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3단계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7939" y="1573339"/>
            <a:ext cx="1763506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시트 선택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7939" y="1843087"/>
            <a:ext cx="1763506" cy="2931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4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도면정보 탭에서 뽑을 도면을 고른다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7615" y="1312735"/>
            <a:ext cx="61579" cy="9355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404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42203" y="1312735"/>
            <a:ext cx="2077259" cy="935545"/>
          </a:xfrm>
          <a:prstGeom prst="roundRect">
            <a:avLst>
              <a:gd name="adj" fmla="val 7819"/>
            </a:avLst>
          </a:prstGeom>
          <a:solidFill>
            <a:srgbClr val="FFFFFF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42203" y="1312735"/>
            <a:ext cx="36576" cy="9355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2796" y="1498044"/>
            <a:ext cx="1763506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4단계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2796" y="1646634"/>
            <a:ext cx="1763506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2D 출력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2796" y="1916382"/>
            <a:ext cx="1763506" cy="14658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54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고른 시트를 2D 도면으로 만든다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92472" y="1312735"/>
            <a:ext cx="61579" cy="9355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404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27060" y="1312735"/>
            <a:ext cx="2077259" cy="935545"/>
          </a:xfrm>
          <a:prstGeom prst="roundRect">
            <a:avLst>
              <a:gd name="adj" fmla="val 7819"/>
            </a:avLst>
          </a:prstGeom>
          <a:solidFill>
            <a:srgbClr val="FFFFFF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27060" y="1312735"/>
            <a:ext cx="36576" cy="93554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97653" y="1424749"/>
            <a:ext cx="1763506" cy="12801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5단계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97653" y="1573339"/>
            <a:ext cx="1763506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PDF 출력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97653" y="1843087"/>
            <a:ext cx="1763506" cy="2931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4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파일로 저장. 여러 장이면 일괄 출력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632" y="2412873"/>
            <a:ext cx="1121668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치수 추출 한 번에 자동으로 벌어지는 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7632" y="2636901"/>
            <a:ext cx="11216687" cy="3354990"/>
          </a:xfrm>
          <a:prstGeom prst="roundRect">
            <a:avLst>
              <a:gd name="adj" fmla="val 2725"/>
            </a:avLst>
          </a:prstGeom>
          <a:solidFill>
            <a:srgbClr val="F6F9FD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67369" y="2755773"/>
            <a:ext cx="10857214" cy="25374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순서대로 자동 진행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369" y="3000375"/>
            <a:ext cx="10857214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67369" y="3078099"/>
            <a:ext cx="10857214" cy="333756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98385" y="3145536"/>
            <a:ext cx="198882" cy="198882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71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2563" y="3168110"/>
            <a:ext cx="2975943" cy="1537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부재 목록</a:t>
            </a:r>
            <a:r>
              <a:rPr sz="1026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수집 — 모델에서 부재를 뽑아 번호 부여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369" y="3480435"/>
            <a:ext cx="10857214" cy="333756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98385" y="3547872"/>
            <a:ext cx="198882" cy="198882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71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2563" y="3570446"/>
            <a:ext cx="2363152" cy="1537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간섭 검사</a:t>
            </a:r>
            <a:r>
              <a:rPr sz="1026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— 어느 부재끼리 닿는지 조사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7369" y="3882771"/>
            <a:ext cx="10857214" cy="333756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98385" y="3950208"/>
            <a:ext cx="198882" cy="198882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71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82563" y="3972782"/>
            <a:ext cx="2232850" cy="1537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기준점</a:t>
            </a:r>
            <a:r>
              <a:rPr sz="1026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수집 — 치수를 걸 형상점 추출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7369" y="4285107"/>
            <a:ext cx="10857214" cy="333756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98385" y="4352544"/>
            <a:ext cx="198882" cy="198882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71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2563" y="4375118"/>
            <a:ext cx="1972246" cy="1537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치수 계산</a:t>
            </a:r>
            <a:r>
              <a:rPr sz="1026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— 축별 체인 치수 생성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67369" y="4687443"/>
            <a:ext cx="10857214" cy="333756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98385" y="4754880"/>
            <a:ext cx="198882" cy="198882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71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2563" y="4777454"/>
            <a:ext cx="2324433" cy="1537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도면 시트</a:t>
            </a:r>
            <a:r>
              <a:rPr sz="1026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생성 — 도면 장 수 자동 분할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101619"/>
            <a:ext cx="12191952" cy="7563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0" y="610161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3945" y="6235493"/>
            <a:ext cx="57892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다시 뽑을 때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7632" y="6227349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7632" y="6419945"/>
            <a:ext cx="5449824" cy="28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부재를 숨기거나 골라 둔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화면 상태가 바뀌면 부재 번호가 달라진다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. 같은 번호로 다시 뽑으려면 같은 상태에서 치수 추출부터.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54353" y="6193059"/>
            <a:ext cx="5449966" cy="541496"/>
          </a:xfrm>
          <a:prstGeom prst="roundRect">
            <a:avLst>
              <a:gd name="adj" fmla="val 13509"/>
            </a:avLst>
          </a:prstGeom>
          <a:solidFill>
            <a:srgbClr val="FDF4E3"/>
          </a:solidFill>
          <a:ln w="9144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13826" y="6272069"/>
            <a:ext cx="746236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 순서를 건너뛰면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97513" y="6263925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⚠️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97513" y="6456521"/>
            <a:ext cx="5163645" cy="140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부재 목록 없이 2D를 누르면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막힌다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. 시트 목록은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간섭 검사가 끝나야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 만들어진다.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1284446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메뉴얼 · 도면 종류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1284446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도면 4종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22222" y="219456"/>
            <a:ext cx="782097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메뉴얼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059" y="474345"/>
            <a:ext cx="94126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기준일</a:t>
            </a:r>
            <a:r>
              <a:rPr sz="864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32" y="1061275"/>
            <a:ext cx="1121668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네 종류 — 보는 범위가 다르다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32" y="1285303"/>
            <a:ext cx="2667047" cy="1479899"/>
          </a:xfrm>
          <a:prstGeom prst="roundRect">
            <a:avLst>
              <a:gd name="adj" fmla="val 5560"/>
            </a:avLst>
          </a:prstGeom>
          <a:solidFill>
            <a:srgbClr val="F6F9FD"/>
          </a:solidFill>
          <a:ln w="9144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7632" y="1285303"/>
            <a:ext cx="2667047" cy="2743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224" y="1422463"/>
            <a:ext cx="2331862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제작도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224" y="1671637"/>
            <a:ext cx="2331862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전체를 한 장에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24" y="1900237"/>
            <a:ext cx="2331862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모델의 부재를 </a:t>
            </a: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모두</a:t>
            </a: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한 도면에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224" y="2121979"/>
            <a:ext cx="2331862" cy="3071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전체 배치와 부재 번호를 한눈에 보는 도면. 도면 묶음의 첫 장.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224" y="2429160"/>
            <a:ext cx="233186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944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언제나 1장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417" y="1285303"/>
            <a:ext cx="2667190" cy="1479899"/>
          </a:xfrm>
          <a:prstGeom prst="roundRect">
            <a:avLst>
              <a:gd name="adj" fmla="val 5560"/>
            </a:avLst>
          </a:prstGeom>
          <a:solidFill>
            <a:srgbClr val="F6F9FD"/>
          </a:solidFill>
          <a:ln w="9144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417" y="1285303"/>
            <a:ext cx="2667190" cy="274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5009" y="1422463"/>
            <a:ext cx="2332005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9488"/>
                </a:solidFill>
                <a:latin typeface="Malgun Gothic"/>
                <a:ea typeface="Malgun Gothic"/>
                <a:cs typeface="Malgun Gothic"/>
              </a:rPr>
              <a:t>조립도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5009" y="1671637"/>
            <a:ext cx="2332005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부재마다 한 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5009" y="1900237"/>
            <a:ext cx="2332005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기준 부재 + </a:t>
            </a: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직접 닿는 이웃</a:t>
            </a: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5009" y="2121979"/>
            <a:ext cx="2332005" cy="3071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이 부재에 무엇이 어떻게 붙는지 보는 도면. 부재마다 자기 도면을 하나씩 갖는다.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05009" y="2429160"/>
            <a:ext cx="233200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944" b="1">
                <a:solidFill>
                  <a:srgbClr val="0D9488"/>
                </a:solidFill>
                <a:latin typeface="Malgun Gothic"/>
                <a:ea typeface="Malgun Gothic"/>
                <a:cs typeface="Malgun Gothic"/>
              </a:rPr>
              <a:t>부재 수만큼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344" y="1285303"/>
            <a:ext cx="2667047" cy="1479899"/>
          </a:xfrm>
          <a:prstGeom prst="roundRect">
            <a:avLst>
              <a:gd name="adj" fmla="val 5560"/>
            </a:avLst>
          </a:prstGeom>
          <a:solidFill>
            <a:srgbClr val="F6F9FD"/>
          </a:solidFill>
          <a:ln w="9144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7344" y="1285303"/>
            <a:ext cx="2667047" cy="27432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4937" y="1422463"/>
            <a:ext cx="2331862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9333EA"/>
                </a:solidFill>
                <a:latin typeface="Malgun Gothic"/>
                <a:ea typeface="Malgun Gothic"/>
                <a:cs typeface="Malgun Gothic"/>
              </a:rPr>
              <a:t>설치도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4937" y="1671637"/>
            <a:ext cx="2331862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연결된 전체를 한 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4937" y="1900237"/>
            <a:ext cx="2331862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구조물 + </a:t>
            </a: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바깥 연결부재</a:t>
            </a: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를 점선으로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4937" y="2121979"/>
            <a:ext cx="2331862" cy="3071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이 구조물이 주변 어디에 어떻게 설치되는지 보는 도면. 위치 치수가 핵심.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4937" y="2429160"/>
            <a:ext cx="2331862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944" b="1">
                <a:solidFill>
                  <a:srgbClr val="9333EA"/>
                </a:solidFill>
                <a:latin typeface="Malgun Gothic"/>
                <a:ea typeface="Malgun Gothic"/>
                <a:cs typeface="Malgun Gothic"/>
              </a:rPr>
              <a:t>언제나 1장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37129" y="1285303"/>
            <a:ext cx="2667190" cy="1479899"/>
          </a:xfrm>
          <a:prstGeom prst="roundRect">
            <a:avLst>
              <a:gd name="adj" fmla="val 5560"/>
            </a:avLst>
          </a:prstGeom>
          <a:solidFill>
            <a:srgbClr val="F6F9FD"/>
          </a:solidFill>
          <a:ln w="9144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37129" y="1285303"/>
            <a:ext cx="2667190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04721" y="1422463"/>
            <a:ext cx="2332005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가공도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04721" y="1671637"/>
            <a:ext cx="2332005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부재 하나씩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04721" y="1900237"/>
            <a:ext cx="2332005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부재 </a:t>
            </a: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한 개</a:t>
            </a: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만 떼어 홀·슬롯까지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04721" y="2121979"/>
            <a:ext cx="2332005" cy="3071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8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실제로 잘라 뚫어 만들기 위한 도면. 다른 부재는 나오지 않는다.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4721" y="2429160"/>
            <a:ext cx="2332005" cy="2171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944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부재 수만큼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632" y="2888646"/>
            <a:ext cx="1121668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예 — 부재 4개가 차례로 닿아 있는 모델이라면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7632" y="3112674"/>
            <a:ext cx="11216687" cy="2899791"/>
          </a:xfrm>
          <a:prstGeom prst="roundRect">
            <a:avLst>
              <a:gd name="adj" fmla="val 3153"/>
            </a:avLst>
          </a:prstGeom>
          <a:solidFill>
            <a:srgbClr val="F6F9FD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vg06_70_3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3210972"/>
            <a:ext cx="10906077" cy="2703195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0" y="6101619"/>
            <a:ext cx="12191952" cy="7563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0161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3945" y="6235493"/>
            <a:ext cx="984980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왜 부재마다 조립도를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7632" y="6227349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7632" y="6419945"/>
            <a:ext cx="5449824" cy="28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예전엔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다른 도면에 이미 나온 부재는 기준이 될 수 없게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막았지만, 현장에서는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모든 부재가 자기 기준 도면을 하나씩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가져야 했다. 지금은 전부 만들고 겹치는 것만 정리한다.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54353" y="6193059"/>
            <a:ext cx="5449966" cy="541496"/>
          </a:xfrm>
          <a:prstGeom prst="roundRect">
            <a:avLst>
              <a:gd name="adj" fmla="val 13509"/>
            </a:avLst>
          </a:prstGeom>
          <a:solidFill>
            <a:srgbClr val="FDF4E3"/>
          </a:solidFill>
          <a:ln w="9144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13826" y="6272069"/>
            <a:ext cx="1086421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 가공도는 순서가 다르다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97513" y="6263925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⚠️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7513" y="6456521"/>
            <a:ext cx="5163645" cy="140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제작도·조립도·설치도는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간섭 검사까지 끝나야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 목록에 뜬다. 가공도는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부재 목록만 있으면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 바로 뽑을 수 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2861643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결과물 도면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2861643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예시 모델과 부재 분할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33664" y="219456"/>
            <a:ext cx="670655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도면 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32" y="1074991"/>
            <a:ext cx="4265104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예시 모델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32" y="1299019"/>
            <a:ext cx="4265104" cy="4707731"/>
          </a:xfrm>
          <a:prstGeom prst="roundRect">
            <a:avLst>
              <a:gd name="adj" fmla="val 2143"/>
            </a:avLst>
          </a:prstGeom>
          <a:solidFill>
            <a:srgbClr val="F6F9FD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3f191865f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98" y="1671066"/>
            <a:ext cx="4002972" cy="39634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7632" y="6068472"/>
            <a:ext cx="4265104" cy="16802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22"/>
              </a:lnSpc>
              <a:spcBef>
                <a:spcPts val="0"/>
              </a:spcBef>
              <a:spcAft>
                <a:spcPts val="0"/>
              </a:spcAft>
            </a:pPr>
            <a:r>
              <a:rPr sz="94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앵글 </a:t>
            </a:r>
            <a:r>
              <a:rPr sz="944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2개</a:t>
            </a:r>
            <a:r>
              <a:rPr sz="94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+ 어스보스 </a:t>
            </a:r>
            <a:r>
              <a:rPr sz="944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1개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69633" y="1074991"/>
            <a:ext cx="6634686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부재 목록 — 번호는 여기서 정해져 끝까지 유지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69633" y="1299019"/>
          <a:ext cx="6634684" cy="9875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3220"/>
                <a:gridCol w="1577054"/>
                <a:gridCol w="1322879"/>
                <a:gridCol w="2316861"/>
                <a:gridCol w="794670"/>
              </a:tblGrid>
              <a:tr h="224028"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0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No.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0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ITEM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0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MATERIAL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0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SIZE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0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T/W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</a:tr>
              <a:tr h="256032"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9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9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EA / EBOS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9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SS275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9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50x50x6x298.25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9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1.39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56032"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9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9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EA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9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SS275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9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50x50x6x298.25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9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1.39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51460"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9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36576" marR="36576" marT="9144" marB="9144" anchor="ctr">
                    <a:noFill/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9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EA</a:t>
                      </a:r>
                    </a:p>
                  </a:txBody>
                  <a:tcPr marL="36576" marR="36576" marT="9144" marB="9144" anchor="ctr">
                    <a:noFill/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9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SS275</a:t>
                      </a:r>
                    </a:p>
                  </a:txBody>
                  <a:tcPr marL="36576" marR="36576" marT="9144" marB="9144" anchor="ctr">
                    <a:noFill/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9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50x50x6x225</a:t>
                      </a:r>
                    </a:p>
                  </a:txBody>
                  <a:tcPr marL="36576" marR="36576" marT="9144" marB="9144" anchor="ctr">
                    <a:noFill/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34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99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</a:t>
                      </a:r>
                    </a:p>
                  </a:txBody>
                  <a:tcPr marL="36576" marR="36576" marT="9144" marB="9144" anchor="ctr">
                    <a:noFill/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69633" y="2423731"/>
            <a:ext cx="6634686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부재 3개 → 도면 네 종류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9633" y="2647759"/>
            <a:ext cx="1567195" cy="886682"/>
          </a:xfrm>
          <a:prstGeom prst="roundRect">
            <a:avLst>
              <a:gd name="adj" fmla="val 8250"/>
            </a:avLst>
          </a:prstGeom>
          <a:solidFill>
            <a:srgbClr val="F6F9FD"/>
          </a:solidFill>
          <a:ln w="9144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69633" y="2647759"/>
            <a:ext cx="1567195" cy="36576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0650" y="2766631"/>
            <a:ext cx="1305163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134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제작도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0650" y="2972371"/>
            <a:ext cx="1305163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1장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0650" y="3166681"/>
            <a:ext cx="1305163" cy="276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전체 한 장</a:t>
            </a:r>
          </a:p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BOM 1 · 2 ·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58701" y="2647759"/>
            <a:ext cx="1567338" cy="886682"/>
          </a:xfrm>
          <a:prstGeom prst="roundRect">
            <a:avLst>
              <a:gd name="adj" fmla="val 8250"/>
            </a:avLst>
          </a:prstGeom>
          <a:solidFill>
            <a:srgbClr val="F6F9FD"/>
          </a:solidFill>
          <a:ln w="9144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58701" y="2647759"/>
            <a:ext cx="1567338" cy="3657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9718" y="2766631"/>
            <a:ext cx="1305306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134" b="1">
                <a:solidFill>
                  <a:srgbClr val="0D9488"/>
                </a:solidFill>
                <a:latin typeface="Malgun Gothic"/>
                <a:ea typeface="Malgun Gothic"/>
                <a:cs typeface="Malgun Gothic"/>
              </a:rPr>
              <a:t>조립도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9718" y="2972371"/>
            <a:ext cx="1305306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2장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9718" y="3166681"/>
            <a:ext cx="1305306" cy="276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기준부재 + 닿는 이웃</a:t>
            </a:r>
          </a:p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1·2 / 2·3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47913" y="2647759"/>
            <a:ext cx="1567195" cy="886682"/>
          </a:xfrm>
          <a:prstGeom prst="roundRect">
            <a:avLst>
              <a:gd name="adj" fmla="val 8250"/>
            </a:avLst>
          </a:prstGeom>
          <a:solidFill>
            <a:srgbClr val="F6F9FD"/>
          </a:solidFill>
          <a:ln w="9144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47913" y="2647759"/>
            <a:ext cx="1567195" cy="36576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8929" y="2766631"/>
            <a:ext cx="1305163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134" b="1">
                <a:solidFill>
                  <a:srgbClr val="9333EA"/>
                </a:solidFill>
                <a:latin typeface="Malgun Gothic"/>
                <a:ea typeface="Malgun Gothic"/>
                <a:cs typeface="Malgun Gothic"/>
              </a:rPr>
              <a:t>설치도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8929" y="2972371"/>
            <a:ext cx="1305163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1장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8929" y="3166681"/>
            <a:ext cx="1305163" cy="276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구조물 실선</a:t>
            </a:r>
          </a:p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외부 부재 점선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36981" y="2647759"/>
            <a:ext cx="1567338" cy="886682"/>
          </a:xfrm>
          <a:prstGeom prst="roundRect">
            <a:avLst>
              <a:gd name="adj" fmla="val 8250"/>
            </a:avLst>
          </a:prstGeom>
          <a:solidFill>
            <a:srgbClr val="F6F9FD"/>
          </a:solidFill>
          <a:ln w="9144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136981" y="2647759"/>
            <a:ext cx="1567338" cy="3657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67997" y="2766631"/>
            <a:ext cx="1305306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0"/>
              </a:lnSpc>
              <a:spcBef>
                <a:spcPts val="0"/>
              </a:spcBef>
              <a:spcAft>
                <a:spcPts val="0"/>
              </a:spcAft>
            </a:pPr>
            <a:r>
              <a:rPr sz="1134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가공도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67997" y="2972371"/>
            <a:ext cx="1305306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3행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7997" y="3166681"/>
            <a:ext cx="1305306" cy="276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부재당 한 행</a:t>
            </a:r>
          </a:p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뷰 배치 아님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387369"/>
            <a:ext cx="12191952" cy="4706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38736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43535" y="6533673"/>
            <a:ext cx="5904880" cy="18716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74"/>
              </a:lnSpc>
              <a:spcBef>
                <a:spcPts val="0"/>
              </a:spcBef>
              <a:spcAft>
                <a:spcPts val="0"/>
              </a:spcAft>
            </a:pP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부재 번호는 </a:t>
            </a:r>
            <a:r>
              <a:rPr sz="1053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제작도에서 한 번만</a:t>
            </a: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매겨진다 — 조립도 두 번째 장의 BOM이 </a:t>
            </a:r>
            <a:r>
              <a:rPr sz="1053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2번부터 시작</a:t>
            </a: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하는 이유.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855535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결과물 도면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855535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제작도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33664" y="219456"/>
            <a:ext cx="670655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도면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632" y="1763506"/>
            <a:ext cx="7091029" cy="4303109"/>
          </a:xfrm>
          <a:prstGeom prst="roundRect">
            <a:avLst>
              <a:gd name="adj" fmla="val 1699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d0bd4d602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76" y="1772650"/>
            <a:ext cx="7072741" cy="4284821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345168" y="3744468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4386548" y="3744468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1309878" y="5801153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4386548" y="5801153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184112" y="3444430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1628203" y="2158984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5" name="Oval 14"/>
          <p:cNvSpPr/>
          <p:nvPr/>
        </p:nvSpPr>
        <p:spPr>
          <a:xfrm>
            <a:off x="2618327" y="2630328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16" name="Oval 15"/>
          <p:cNvSpPr/>
          <p:nvPr/>
        </p:nvSpPr>
        <p:spPr>
          <a:xfrm>
            <a:off x="7003446" y="1859089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17" name="Oval 16"/>
          <p:cNvSpPr/>
          <p:nvPr/>
        </p:nvSpPr>
        <p:spPr>
          <a:xfrm>
            <a:off x="7180183" y="5351240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18" name="Oval 17"/>
          <p:cNvSpPr/>
          <p:nvPr/>
        </p:nvSpPr>
        <p:spPr>
          <a:xfrm>
            <a:off x="4881610" y="1880520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19" name="Oval 18"/>
          <p:cNvSpPr/>
          <p:nvPr/>
        </p:nvSpPr>
        <p:spPr>
          <a:xfrm>
            <a:off x="7871126" y="1635775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4167" y="1625488"/>
            <a:ext cx="581787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ISO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4167" y="1832514"/>
            <a:ext cx="581787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전체 형상</a:t>
            </a:r>
          </a:p>
        </p:txBody>
      </p:sp>
      <p:sp>
        <p:nvSpPr>
          <p:cNvPr id="22" name="Oval 21"/>
          <p:cNvSpPr/>
          <p:nvPr/>
        </p:nvSpPr>
        <p:spPr>
          <a:xfrm>
            <a:off x="7871126" y="2102262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4167" y="2091975"/>
            <a:ext cx="1102280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LOOKING "-Z"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4167" y="2299001"/>
            <a:ext cx="1102280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평면도</a:t>
            </a:r>
          </a:p>
        </p:txBody>
      </p:sp>
      <p:sp>
        <p:nvSpPr>
          <p:cNvPr id="25" name="Oval 24"/>
          <p:cNvSpPr/>
          <p:nvPr/>
        </p:nvSpPr>
        <p:spPr>
          <a:xfrm>
            <a:off x="7871126" y="2568749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4167" y="2558462"/>
            <a:ext cx="1108995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LOOKING "-X"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4167" y="2765488"/>
            <a:ext cx="1108995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정면도</a:t>
            </a:r>
          </a:p>
        </p:txBody>
      </p:sp>
      <p:sp>
        <p:nvSpPr>
          <p:cNvPr id="28" name="Oval 27"/>
          <p:cNvSpPr/>
          <p:nvPr/>
        </p:nvSpPr>
        <p:spPr>
          <a:xfrm>
            <a:off x="7871126" y="3035236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4167" y="3024949"/>
            <a:ext cx="1101423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LOOKING "-Y"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4167" y="3231975"/>
            <a:ext cx="1101423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측면도</a:t>
            </a:r>
          </a:p>
        </p:txBody>
      </p:sp>
      <p:sp>
        <p:nvSpPr>
          <p:cNvPr id="31" name="Oval 30"/>
          <p:cNvSpPr/>
          <p:nvPr/>
        </p:nvSpPr>
        <p:spPr>
          <a:xfrm>
            <a:off x="7871126" y="3501723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94167" y="3491436"/>
            <a:ext cx="2431875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치수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4167" y="3698462"/>
            <a:ext cx="2431875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형상점 기준 체인 치수 · 275 = 50 + 225</a:t>
            </a:r>
          </a:p>
        </p:txBody>
      </p:sp>
      <p:sp>
        <p:nvSpPr>
          <p:cNvPr id="34" name="Oval 33"/>
          <p:cNvSpPr/>
          <p:nvPr/>
        </p:nvSpPr>
        <p:spPr>
          <a:xfrm>
            <a:off x="7871126" y="3968210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4167" y="3957923"/>
            <a:ext cx="1023413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부재번호 풍선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4167" y="4164949"/>
            <a:ext cx="1023413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BOM No.와 동일</a:t>
            </a:r>
          </a:p>
        </p:txBody>
      </p:sp>
      <p:sp>
        <p:nvSpPr>
          <p:cNvPr id="37" name="Oval 36"/>
          <p:cNvSpPr/>
          <p:nvPr/>
        </p:nvSpPr>
        <p:spPr>
          <a:xfrm>
            <a:off x="7871126" y="4434697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4167" y="4424410"/>
            <a:ext cx="2247280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주변 부재 이름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4167" y="4631436"/>
            <a:ext cx="2247280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시트 밖 부재는 점선 + 접촉점에 이름</a:t>
            </a:r>
          </a:p>
        </p:txBody>
      </p:sp>
      <p:sp>
        <p:nvSpPr>
          <p:cNvPr id="40" name="Oval 39"/>
          <p:cNvSpPr/>
          <p:nvPr/>
        </p:nvSpPr>
        <p:spPr>
          <a:xfrm>
            <a:off x="7871126" y="4901184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4167" y="4890897"/>
            <a:ext cx="1210579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BOM 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4167" y="5097922"/>
            <a:ext cx="1210579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이 시트의 부재 목록</a:t>
            </a:r>
          </a:p>
        </p:txBody>
      </p:sp>
      <p:sp>
        <p:nvSpPr>
          <p:cNvPr id="43" name="Oval 42"/>
          <p:cNvSpPr/>
          <p:nvPr/>
        </p:nvSpPr>
        <p:spPr>
          <a:xfrm>
            <a:off x="7871126" y="5367670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4167" y="5357383"/>
            <a:ext cx="2620184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표제부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94167" y="5564409"/>
            <a:ext cx="2620184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프로젝트 · 선박번호 · 도면 이름 · TAG · REV</a:t>
            </a:r>
          </a:p>
        </p:txBody>
      </p:sp>
      <p:sp>
        <p:nvSpPr>
          <p:cNvPr id="46" name="Oval 45"/>
          <p:cNvSpPr/>
          <p:nvPr/>
        </p:nvSpPr>
        <p:spPr>
          <a:xfrm>
            <a:off x="7871126" y="5834157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94167" y="5823870"/>
            <a:ext cx="896112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방위표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4167" y="6030896"/>
            <a:ext cx="896112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선박 기준 방향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855535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결과물 도면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855535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조립도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33664" y="219456"/>
            <a:ext cx="670655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도면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632" y="1665065"/>
            <a:ext cx="5462111" cy="3317700"/>
          </a:xfrm>
          <a:prstGeom prst="roundRect">
            <a:avLst>
              <a:gd name="adj" fmla="val 2204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85ecb8aa8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76" y="1674209"/>
            <a:ext cx="5443823" cy="329941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119372" y="2079259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0" name="Oval 9"/>
          <p:cNvSpPr/>
          <p:nvPr/>
        </p:nvSpPr>
        <p:spPr>
          <a:xfrm>
            <a:off x="1070848" y="3069097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7443" y="5023913"/>
            <a:ext cx="1622345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Sheet 2 — 기준부재 1 + 이웃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2208" y="1654492"/>
            <a:ext cx="5462111" cy="3338988"/>
          </a:xfrm>
          <a:prstGeom prst="roundRect">
            <a:avLst>
              <a:gd name="adj" fmla="val 219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0973b3d72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352" y="1663636"/>
            <a:ext cx="5443823" cy="33207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9873948" y="2071973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5" name="Oval 14"/>
          <p:cNvSpPr/>
          <p:nvPr/>
        </p:nvSpPr>
        <p:spPr>
          <a:xfrm>
            <a:off x="11316557" y="4695301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2020" y="5034629"/>
            <a:ext cx="1622345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Sheet 3 — 기준부재 2 + 이웃 3</a:t>
            </a:r>
          </a:p>
        </p:txBody>
      </p:sp>
      <p:sp>
        <p:nvSpPr>
          <p:cNvPr id="17" name="Oval 16"/>
          <p:cNvSpPr/>
          <p:nvPr/>
        </p:nvSpPr>
        <p:spPr>
          <a:xfrm>
            <a:off x="487632" y="5894165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672" y="5883878"/>
            <a:ext cx="2417587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기준부재 + 닿는 부재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672" y="6090904"/>
            <a:ext cx="2417587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간섭 검사 결과로 묶음 · 묶음 수 = 장 수</a:t>
            </a:r>
          </a:p>
        </p:txBody>
      </p:sp>
      <p:sp>
        <p:nvSpPr>
          <p:cNvPr id="20" name="Oval 19"/>
          <p:cNvSpPr/>
          <p:nvPr/>
        </p:nvSpPr>
        <p:spPr>
          <a:xfrm>
            <a:off x="4323969" y="5894165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7009" y="5883878"/>
            <a:ext cx="1163574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부재번호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7009" y="6090904"/>
            <a:ext cx="1163574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제작도 번호 그대로</a:t>
            </a:r>
          </a:p>
        </p:txBody>
      </p:sp>
      <p:sp>
        <p:nvSpPr>
          <p:cNvPr id="23" name="Oval 22"/>
          <p:cNvSpPr/>
          <p:nvPr/>
        </p:nvSpPr>
        <p:spPr>
          <a:xfrm>
            <a:off x="8160305" y="5894165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3346" y="5883878"/>
            <a:ext cx="1017841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Sheet 2 BOM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3346" y="6090904"/>
            <a:ext cx="1017841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1번 · 2번</a:t>
            </a:r>
          </a:p>
        </p:txBody>
      </p:sp>
      <p:sp>
        <p:nvSpPr>
          <p:cNvPr id="26" name="Oval 25"/>
          <p:cNvSpPr/>
          <p:nvPr/>
        </p:nvSpPr>
        <p:spPr>
          <a:xfrm>
            <a:off x="487632" y="6350365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672" y="6340078"/>
            <a:ext cx="1872519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Sheet 3 BOM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672" y="6547104"/>
            <a:ext cx="1872519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2번 · 3번 — 2부터 시작이 정상</a:t>
            </a:r>
          </a:p>
        </p:txBody>
      </p:sp>
      <p:sp>
        <p:nvSpPr>
          <p:cNvPr id="29" name="Oval 28"/>
          <p:cNvSpPr/>
          <p:nvPr/>
        </p:nvSpPr>
        <p:spPr>
          <a:xfrm>
            <a:off x="4323969" y="6350365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7009" y="6340078"/>
            <a:ext cx="1297305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TAG No.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7009" y="6547104"/>
            <a:ext cx="1297305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구조물 속성에서 자동</a:t>
            </a:r>
          </a:p>
        </p:txBody>
      </p:sp>
      <p:sp>
        <p:nvSpPr>
          <p:cNvPr id="32" name="Oval 31"/>
          <p:cNvSpPr/>
          <p:nvPr/>
        </p:nvSpPr>
        <p:spPr>
          <a:xfrm>
            <a:off x="8160305" y="6350365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157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3346" y="6340078"/>
            <a:ext cx="849249" cy="1933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26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뷰 배치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3346" y="6547104"/>
            <a:ext cx="849249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05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제작도와 동일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855535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결과물 도면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855535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설치도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33664" y="219456"/>
            <a:ext cx="670655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도면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632" y="1747789"/>
            <a:ext cx="7091029" cy="4334398"/>
          </a:xfrm>
          <a:prstGeom prst="roundRect">
            <a:avLst>
              <a:gd name="adj" fmla="val 1687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fb2c48e1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76" y="1756933"/>
            <a:ext cx="7072741" cy="431611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1451324" y="2902219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1946386" y="2168556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4032932" y="3139678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1203721" y="4671869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4351115" y="5125069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7003446" y="1866376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5" name="Oval 14"/>
          <p:cNvSpPr/>
          <p:nvPr/>
        </p:nvSpPr>
        <p:spPr>
          <a:xfrm>
            <a:off x="7871126" y="2124694"/>
            <a:ext cx="260604" cy="2606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315" y="2114407"/>
            <a:ext cx="1101137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선택 구조물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5315" y="2375011"/>
            <a:ext cx="1101137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실선</a:t>
            </a:r>
          </a:p>
        </p:txBody>
      </p:sp>
      <p:sp>
        <p:nvSpPr>
          <p:cNvPr id="18" name="Oval 17"/>
          <p:cNvSpPr/>
          <p:nvPr/>
        </p:nvSpPr>
        <p:spPr>
          <a:xfrm>
            <a:off x="7871126" y="2750058"/>
            <a:ext cx="260604" cy="2606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5315" y="2739771"/>
            <a:ext cx="1306877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연결부재 이름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5315" y="3000375"/>
            <a:ext cx="1306877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접촉점에 표시</a:t>
            </a:r>
          </a:p>
        </p:txBody>
      </p:sp>
      <p:sp>
        <p:nvSpPr>
          <p:cNvPr id="21" name="Oval 20"/>
          <p:cNvSpPr/>
          <p:nvPr/>
        </p:nvSpPr>
        <p:spPr>
          <a:xfrm>
            <a:off x="7871126" y="3375421"/>
            <a:ext cx="260604" cy="2606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5315" y="3365134"/>
            <a:ext cx="2585466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위치 치수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5315" y="3625738"/>
            <a:ext cx="2585466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실선 부재 끝단 → 연결부재 모서리</a:t>
            </a:r>
          </a:p>
        </p:txBody>
      </p:sp>
      <p:sp>
        <p:nvSpPr>
          <p:cNvPr id="24" name="Oval 23"/>
          <p:cNvSpPr/>
          <p:nvPr/>
        </p:nvSpPr>
        <p:spPr>
          <a:xfrm>
            <a:off x="7871126" y="4000785"/>
            <a:ext cx="260604" cy="2606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5315" y="3990498"/>
            <a:ext cx="174879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외부 연결부재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5315" y="4251102"/>
            <a:ext cx="1748790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점선 · 접합 주변만 남김</a:t>
            </a:r>
          </a:p>
        </p:txBody>
      </p:sp>
      <p:sp>
        <p:nvSpPr>
          <p:cNvPr id="27" name="Oval 26"/>
          <p:cNvSpPr/>
          <p:nvPr/>
        </p:nvSpPr>
        <p:spPr>
          <a:xfrm>
            <a:off x="7871126" y="4626149"/>
            <a:ext cx="260604" cy="2606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5315" y="4615862"/>
            <a:ext cx="2206561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치수 배정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5315" y="4876466"/>
            <a:ext cx="2206561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그 축이 길이로 보이는 뷰에만</a:t>
            </a:r>
          </a:p>
        </p:txBody>
      </p:sp>
      <p:sp>
        <p:nvSpPr>
          <p:cNvPr id="30" name="Oval 29"/>
          <p:cNvSpPr/>
          <p:nvPr/>
        </p:nvSpPr>
        <p:spPr>
          <a:xfrm>
            <a:off x="7871126" y="5251513"/>
            <a:ext cx="260604" cy="2606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5315" y="5241226"/>
            <a:ext cx="1654921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BOM · 표제부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5315" y="5501830"/>
            <a:ext cx="1654921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다른 도면과 같은 자리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855535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결과물 도면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855535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가공도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33664" y="219456"/>
            <a:ext cx="670655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도면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632" y="1738931"/>
            <a:ext cx="7091029" cy="4352258"/>
          </a:xfrm>
          <a:prstGeom prst="roundRect">
            <a:avLst>
              <a:gd name="adj" fmla="val 168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0108784b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76" y="1748075"/>
            <a:ext cx="7072741" cy="433397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588502" y="2322147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3113389" y="2378440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3467004" y="3223545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2724340" y="2920222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3" name="Oval 12"/>
          <p:cNvSpPr/>
          <p:nvPr/>
        </p:nvSpPr>
        <p:spPr>
          <a:xfrm>
            <a:off x="3042666" y="4090368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4" name="Oval 13"/>
          <p:cNvSpPr/>
          <p:nvPr/>
        </p:nvSpPr>
        <p:spPr>
          <a:xfrm>
            <a:off x="5235225" y="2144410"/>
            <a:ext cx="212598" cy="21259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15" name="Oval 14"/>
          <p:cNvSpPr/>
          <p:nvPr/>
        </p:nvSpPr>
        <p:spPr>
          <a:xfrm>
            <a:off x="7871126" y="2124694"/>
            <a:ext cx="260604" cy="2606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5315" y="2114407"/>
            <a:ext cx="1361741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부재 이름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5315" y="2375011"/>
            <a:ext cx="1361741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구조물 · 부재 번호</a:t>
            </a:r>
          </a:p>
        </p:txBody>
      </p:sp>
      <p:sp>
        <p:nvSpPr>
          <p:cNvPr id="18" name="Oval 17"/>
          <p:cNvSpPr/>
          <p:nvPr/>
        </p:nvSpPr>
        <p:spPr>
          <a:xfrm>
            <a:off x="7871126" y="2750058"/>
            <a:ext cx="260604" cy="2606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5315" y="2739771"/>
            <a:ext cx="1996678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부재당 한 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5315" y="3000375"/>
            <a:ext cx="1996678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뷰 배치 아님 · 3부재 = 3행</a:t>
            </a:r>
          </a:p>
        </p:txBody>
      </p:sp>
      <p:sp>
        <p:nvSpPr>
          <p:cNvPr id="21" name="Oval 20"/>
          <p:cNvSpPr/>
          <p:nvPr/>
        </p:nvSpPr>
        <p:spPr>
          <a:xfrm>
            <a:off x="7871126" y="3375421"/>
            <a:ext cx="260604" cy="2606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5315" y="3365134"/>
            <a:ext cx="1711071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앵글은 상·하 두 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5315" y="3625738"/>
            <a:ext cx="1711071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두 면을 각각 표시</a:t>
            </a:r>
          </a:p>
        </p:txBody>
      </p:sp>
      <p:sp>
        <p:nvSpPr>
          <p:cNvPr id="24" name="Oval 23"/>
          <p:cNvSpPr/>
          <p:nvPr/>
        </p:nvSpPr>
        <p:spPr>
          <a:xfrm>
            <a:off x="7871126" y="4000785"/>
            <a:ext cx="260604" cy="2606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35315" y="3990498"/>
            <a:ext cx="3371992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치수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5315" y="4251102"/>
            <a:ext cx="3371992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종이 절대 크기 — 부재 크기와 무관하게 동일</a:t>
            </a:r>
          </a:p>
        </p:txBody>
      </p:sp>
      <p:sp>
        <p:nvSpPr>
          <p:cNvPr id="27" name="Oval 26"/>
          <p:cNvSpPr/>
          <p:nvPr/>
        </p:nvSpPr>
        <p:spPr>
          <a:xfrm>
            <a:off x="7871126" y="4626149"/>
            <a:ext cx="260604" cy="2606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5315" y="4615862"/>
            <a:ext cx="1855517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홀 · 슬롯 풍선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5315" y="4876466"/>
            <a:ext cx="1855517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규격과 개수 · 가공도에만</a:t>
            </a:r>
          </a:p>
        </p:txBody>
      </p:sp>
      <p:sp>
        <p:nvSpPr>
          <p:cNvPr id="30" name="Oval 29"/>
          <p:cNvSpPr/>
          <p:nvPr/>
        </p:nvSpPr>
        <p:spPr>
          <a:xfrm>
            <a:off x="7871126" y="5251513"/>
            <a:ext cx="260604" cy="260604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5315" y="5241226"/>
            <a:ext cx="1642919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943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BOM 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5315" y="5501830"/>
            <a:ext cx="1642919" cy="21388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684"/>
              </a:lnSpc>
              <a:spcBef>
                <a:spcPts val="0"/>
              </a:spcBef>
              <a:spcAft>
                <a:spcPts val="0"/>
              </a:spcAft>
            </a:pPr>
            <a:r>
              <a:rPr sz="129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1번 = 어스보스(EBOS)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1239012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도면 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1239012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값의 출처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219545" y="219456"/>
            <a:ext cx="484774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출처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70905" y="474345"/>
            <a:ext cx="1033414" cy="1440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■ 확정</a:t>
            </a:r>
            <a:r>
              <a:rPr sz="756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6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■ 보강</a:t>
            </a:r>
            <a:r>
              <a:rPr sz="756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56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■ 임시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7632" y="1033843"/>
          <a:ext cx="11216685" cy="57144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4652"/>
                <a:gridCol w="2691907"/>
                <a:gridCol w="5047488"/>
                <a:gridCol w="1682638"/>
              </a:tblGrid>
              <a:tr h="208311"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1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6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1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6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지금 나오는 값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1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6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어디서 오나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1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6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</a:tr>
              <a:tr h="277749">
                <a:tc gridSpan="4"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0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BOM 표 — 도면 오른쪽 위</a:t>
                      </a:r>
                    </a:p>
                  </a:txBody>
                  <a:tcPr marL="36576" marR="36576" marT="9144" marB="9144" anchor="ctr">
                    <a:solidFill>
                      <a:srgbClr val="EEF4FB"/>
                    </a:solidFill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No.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· 2 · 3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부재 목록 순번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ITEM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EA · EBOS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부재 속성 </a:t>
                      </a:r>
                      <a:r>
                        <a:rPr sz="777" b="1">
                          <a:solidFill>
                            <a:srgbClr val="17233A"/>
                          </a:solidFill>
                          <a:latin typeface="Consolas"/>
                          <a:highlight>
                            <a:srgbClr val="EEF2F8"/>
                          </a:highlight>
                          <a:ea typeface="Consolas"/>
                          <a:cs typeface="Consolas"/>
                        </a:rPr>
                        <a:t>SPREF</a:t>
                      </a: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앞 구간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MATERIAL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SS275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부재 속성 </a:t>
                      </a:r>
                      <a:r>
                        <a:rPr sz="777" b="1">
                          <a:solidFill>
                            <a:srgbClr val="17233A"/>
                          </a:solidFill>
                          <a:latin typeface="Consolas"/>
                          <a:highlight>
                            <a:srgbClr val="EEF2F8"/>
                          </a:highlight>
                          <a:ea typeface="Consolas"/>
                          <a:cs typeface="Consolas"/>
                        </a:rPr>
                        <a:t>MATREF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SIZE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50x50x6x298.25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7" b="1">
                          <a:solidFill>
                            <a:srgbClr val="17233A"/>
                          </a:solidFill>
                          <a:latin typeface="Consolas"/>
                          <a:highlight>
                            <a:srgbClr val="EEF2F8"/>
                          </a:highlight>
                          <a:ea typeface="Consolas"/>
                          <a:cs typeface="Consolas"/>
                        </a:rPr>
                        <a:t>SPREF</a:t>
                      </a: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뒷부분 + 시작·끝 좌표 거리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B4530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형식 검증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Q'TY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항상 1 — 집계 규칙 미정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DC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임시값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T/W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1.39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부재 속성 </a:t>
                      </a:r>
                      <a:r>
                        <a:rPr sz="777" b="1">
                          <a:solidFill>
                            <a:srgbClr val="17233A"/>
                          </a:solidFill>
                          <a:latin typeface="Consolas"/>
                          <a:highlight>
                            <a:srgbClr val="EEF2F8"/>
                          </a:highlight>
                          <a:ea typeface="Consolas"/>
                          <a:cs typeface="Consolas"/>
                        </a:rPr>
                        <a:t>GWEI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 · FA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 · F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의미·출처 미정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DC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임시값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7749">
                <a:tc gridSpan="4"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0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풍선 — 도면 위 표시</a:t>
                      </a:r>
                    </a:p>
                  </a:txBody>
                  <a:tcPr marL="36576" marR="36576" marT="9144" marB="9144" anchor="ctr">
                    <a:solidFill>
                      <a:srgbClr val="EEF4FB"/>
                    </a:solidFill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부재번호 풍선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· 2 · 3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BOM No.와 같은 번호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홀 · 슬롯 풍선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규격 · 개수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모델의 홀 정보 — 가공도에만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연결부재 이름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/M02-2-P10S-4024A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닿아 있는 부재의 상위 이름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7749">
                <a:tc gridSpan="4"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0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도면 정보 — 오른쪽 아래 표제부</a:t>
                      </a:r>
                    </a:p>
                  </a:txBody>
                  <a:tcPr marL="36576" marR="36576" marT="9144" marB="9144" anchor="ctr">
                    <a:solidFill>
                      <a:srgbClr val="EEF4FB"/>
                    </a:solidFill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도면 이름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제작도 · 조립도 · 설치도 · 가공도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시트 종류로 자동 결정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PAINT CODE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EX2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구조물 속성 </a:t>
                      </a:r>
                      <a:r>
                        <a:rPr sz="777" b="1">
                          <a:solidFill>
                            <a:srgbClr val="17233A"/>
                          </a:solidFill>
                          <a:latin typeface="Consolas"/>
                          <a:highlight>
                            <a:srgbClr val="EEF2F8"/>
                          </a:highlight>
                          <a:ea typeface="Consolas"/>
                          <a:cs typeface="Consolas"/>
                        </a:rPr>
                        <a:t>PNT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0F766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TAG No.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/M02-A-ES-P0813A-SHI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상위 구조물 속성 </a:t>
                      </a:r>
                      <a:r>
                        <a:rPr sz="777" b="1">
                          <a:solidFill>
                            <a:srgbClr val="17233A"/>
                          </a:solidFill>
                          <a:latin typeface="Consolas"/>
                          <a:highlight>
                            <a:srgbClr val="EEF2F8"/>
                          </a:highlight>
                          <a:ea typeface="Consolas"/>
                          <a:cs typeface="Consolas"/>
                        </a:rPr>
                        <a:t>STRU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B4530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보강 필요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프로젝트명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CEDAR FLNG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프로그램에 고정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DC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하드코딩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번호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SN2688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프로그램에 고정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DC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하드코딩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5177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DP No.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시험용 고정값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DC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임시값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70033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REV · NOTE</a:t>
                      </a:r>
                    </a:p>
                  </a:txBody>
                  <a:tcPr marL="36576" marR="36576" marT="9144" marB="9144" anchor="ctr">
                    <a:noFill/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빈칸</a:t>
                      </a:r>
                    </a:p>
                  </a:txBody>
                  <a:tcPr marL="36576" marR="36576" marT="9144" marB="9144" anchor="ctr">
                    <a:noFill/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기능 미개발</a:t>
                      </a:r>
                    </a:p>
                  </a:txBody>
                  <a:tcPr marL="36576" marR="36576" marT="9144" marB="9144" anchor="ctr">
                    <a:noFill/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1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74" b="1">
                          <a:solidFill>
                            <a:srgbClr val="DC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미구현</a:t>
                      </a:r>
                    </a:p>
                  </a:txBody>
                  <a:tcPr marL="36576" marR="36576" marT="9144" marB="9144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3145678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룰북 · Osnap 선별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3145678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도면별 Osnap 선별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3822" y="219456"/>
            <a:ext cx="550497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1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059" y="474345"/>
            <a:ext cx="94126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기준일</a:t>
            </a:r>
            <a:r>
              <a:rPr sz="864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2026-07-21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32" y="1068133"/>
            <a:ext cx="1121668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선별 엔진은 하나 — 도면마다 앞뒤로 필터를 더하거나 뺀다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32" y="1292161"/>
            <a:ext cx="2599610" cy="719232"/>
          </a:xfrm>
          <a:prstGeom prst="roundRect">
            <a:avLst>
              <a:gd name="adj" fmla="val 10170"/>
            </a:avLst>
          </a:prstGeom>
          <a:solidFill>
            <a:srgbClr val="FFFFFF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7632" y="1292161"/>
            <a:ext cx="27432" cy="719232"/>
          </a:xfrm>
          <a:prstGeom prst="rect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936" y="1447180"/>
            <a:ext cx="2319289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①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36" y="1614058"/>
            <a:ext cx="2319289" cy="2423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4"/>
              </a:lnSpc>
              <a:spcBef>
                <a:spcPts val="0"/>
              </a:spcBef>
              <a:spcAft>
                <a:spcPts val="0"/>
              </a:spcAft>
            </a:pPr>
            <a:r>
              <a:rPr sz="73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모서리·점 Osnap 수집</a:t>
            </a:r>
          </a:p>
          <a:p>
            <a:pPr algn="l">
              <a:lnSpc>
                <a:spcPts val="954"/>
              </a:lnSpc>
              <a:spcBef>
                <a:spcPts val="0"/>
              </a:spcBef>
              <a:spcAft>
                <a:spcPts val="0"/>
              </a:spcAft>
            </a:pPr>
            <a:r>
              <a:rPr sz="73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홀·원(CIRCLE)은 제외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8107" y="1292161"/>
            <a:ext cx="150876" cy="719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9848" y="1292161"/>
            <a:ext cx="2599753" cy="719232"/>
          </a:xfrm>
          <a:prstGeom prst="roundRect">
            <a:avLst>
              <a:gd name="adj" fmla="val 10170"/>
            </a:avLst>
          </a:prstGeom>
          <a:solidFill>
            <a:srgbClr val="FFFFFF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9848" y="1292161"/>
            <a:ext cx="27432" cy="719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9152" y="1430464"/>
            <a:ext cx="2319432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② 은선 필터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9152" y="1597342"/>
            <a:ext cx="2319432" cy="121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54"/>
              </a:lnSpc>
              <a:spcBef>
                <a:spcPts val="0"/>
              </a:spcBef>
              <a:spcAft>
                <a:spcPts val="0"/>
              </a:spcAft>
            </a:pPr>
            <a:r>
              <a:rPr sz="73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뒷면 15% Osnap 제거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09152" y="1756219"/>
            <a:ext cx="461343" cy="116871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가공도만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0466" y="1292161"/>
            <a:ext cx="150876" cy="719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2207" y="1292161"/>
            <a:ext cx="2599753" cy="719232"/>
          </a:xfrm>
          <a:prstGeom prst="roundRect">
            <a:avLst>
              <a:gd name="adj" fmla="val 10170"/>
            </a:avLst>
          </a:prstGeom>
          <a:solidFill>
            <a:srgbClr val="FFFFFF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2207" y="1292161"/>
            <a:ext cx="27432" cy="7192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1511" y="1369885"/>
            <a:ext cx="2319432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③ 4극점 선별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1511" y="1536763"/>
            <a:ext cx="2319432" cy="2423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4"/>
              </a:lnSpc>
              <a:spcBef>
                <a:spcPts val="0"/>
              </a:spcBef>
              <a:spcAft>
                <a:spcPts val="0"/>
              </a:spcAft>
            </a:pPr>
            <a:r>
              <a:rPr sz="73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코너 4극점 + 부재당 1점</a:t>
            </a:r>
          </a:p>
          <a:p>
            <a:pPr algn="l">
              <a:lnSpc>
                <a:spcPts val="954"/>
              </a:lnSpc>
              <a:spcBef>
                <a:spcPts val="0"/>
              </a:spcBef>
              <a:spcAft>
                <a:spcPts val="0"/>
              </a:spcAft>
            </a:pPr>
            <a:r>
              <a:rPr sz="73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+ 중복 제거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81511" y="1816798"/>
            <a:ext cx="845677" cy="116871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제작·조립·가공 공유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2825" y="1292161"/>
            <a:ext cx="150876" cy="719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25"/>
              </a:lnSpc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04566" y="1292161"/>
            <a:ext cx="2599753" cy="719232"/>
          </a:xfrm>
          <a:prstGeom prst="roundRect">
            <a:avLst>
              <a:gd name="adj" fmla="val 10170"/>
            </a:avLst>
          </a:prstGeom>
          <a:solidFill>
            <a:srgbClr val="FFFFFF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04566" y="1292161"/>
            <a:ext cx="27432" cy="719232"/>
          </a:xfrm>
          <a:prstGeom prst="rect">
            <a:avLst/>
          </a:prstGeom>
          <a:solidFill>
            <a:srgbClr val="17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870" y="1507759"/>
            <a:ext cx="2319432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④ 치수 생성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870" y="1674637"/>
            <a:ext cx="2319432" cy="12115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54"/>
              </a:lnSpc>
              <a:spcBef>
                <a:spcPts val="0"/>
              </a:spcBef>
              <a:spcAft>
                <a:spcPts val="0"/>
              </a:spcAft>
            </a:pPr>
            <a:r>
              <a:rPr sz="73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연쇄 치수 + 전체 치수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7632" y="2079974"/>
            <a:ext cx="11216687" cy="292608"/>
          </a:xfrm>
          <a:prstGeom prst="roundRect">
            <a:avLst>
              <a:gd name="adj" fmla="val 25000"/>
            </a:avLst>
          </a:prstGeom>
          <a:solidFill>
            <a:srgbClr val="FAF5FF"/>
          </a:solidFill>
          <a:ln w="9144">
            <a:solidFill>
              <a:srgbClr val="D9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648" y="2157698"/>
            <a:ext cx="550640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1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9333EA"/>
                </a:solidFill>
                <a:latin typeface="Malgun Gothic"/>
                <a:ea typeface="Malgun Gothic"/>
                <a:cs typeface="Malgun Gothic"/>
              </a:rPr>
              <a:t>설치도 전용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54585" y="2143982"/>
            <a:ext cx="123444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66"/>
              </a:lnSpc>
              <a:spcBef>
                <a:spcPts val="0"/>
              </a:spcBef>
              <a:spcAft>
                <a:spcPts val="0"/>
              </a:spcAft>
            </a:pPr>
            <a:r>
              <a:rPr sz="971" b="1">
                <a:solidFill>
                  <a:srgbClr val="C39AE0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325" y="2157698"/>
            <a:ext cx="4298823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66" b="1">
                <a:solidFill>
                  <a:srgbClr val="9333EA"/>
                </a:solidFill>
                <a:latin typeface="Malgun Gothic"/>
                <a:ea typeface="Malgun Gothic"/>
                <a:cs typeface="Malgun Gothic"/>
              </a:rPr>
              <a:t>선택 STRU 전체 Osnap MIN/MAX</a:t>
            </a:r>
            <a:r>
              <a:rPr sz="766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+ Target Body 가까운 끝단 → Connected Body 접합측 모서리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7632" y="2523458"/>
            <a:ext cx="2667047" cy="3489007"/>
          </a:xfrm>
          <a:prstGeom prst="roundRect">
            <a:avLst>
              <a:gd name="adj" fmla="val 3085"/>
            </a:avLst>
          </a:prstGeom>
          <a:solidFill>
            <a:srgbClr val="F6F9FD"/>
          </a:solidFill>
          <a:ln w="9144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7632" y="2523458"/>
            <a:ext cx="2667047" cy="27432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793" y="2640044"/>
            <a:ext cx="238072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1053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제작도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793" y="2833211"/>
            <a:ext cx="2380726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Sheet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793" y="3013805"/>
            <a:ext cx="2380726" cy="1337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공유 4극점 엔진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793" y="3181826"/>
            <a:ext cx="2380726" cy="1275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06"/>
              </a:lnSpc>
              <a:spcBef>
                <a:spcPts val="0"/>
              </a:spcBef>
              <a:spcAft>
                <a:spcPts val="0"/>
              </a:spcAft>
            </a:pPr>
            <a:r>
              <a:rPr sz="745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Osnap 선별의 </a:t>
            </a:r>
            <a:r>
              <a:rPr sz="745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기준 경로</a:t>
            </a:r>
            <a:r>
              <a:rPr sz="745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. 코너 4점 + 부재당 1점.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7417" y="2523458"/>
            <a:ext cx="2667190" cy="3489007"/>
          </a:xfrm>
          <a:prstGeom prst="roundRect">
            <a:avLst>
              <a:gd name="adj" fmla="val 3085"/>
            </a:avLst>
          </a:prstGeom>
          <a:solidFill>
            <a:srgbClr val="F6F9FD"/>
          </a:solidFill>
          <a:ln w="9144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37417" y="2523458"/>
            <a:ext cx="2667190" cy="2743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80577" y="2640044"/>
            <a:ext cx="2380869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1053" b="1">
                <a:solidFill>
                  <a:srgbClr val="0D9488"/>
                </a:solidFill>
                <a:latin typeface="Malgun Gothic"/>
                <a:ea typeface="Malgun Gothic"/>
                <a:cs typeface="Malgun Gothic"/>
              </a:rPr>
              <a:t>조립도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80577" y="2833211"/>
            <a:ext cx="2380869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Sheet 2~N (인접 부재)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80577" y="3013805"/>
            <a:ext cx="2380869" cy="1337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제작도와 동일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480577" y="3181826"/>
            <a:ext cx="698515" cy="114300"/>
          </a:xfrm>
          <a:prstGeom prst="roundRect">
            <a:avLst>
              <a:gd name="adj" fmla="val 50000"/>
            </a:avLst>
          </a:prstGeom>
          <a:solidFill>
            <a:srgbClr val="E3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0D9488"/>
                </a:solidFill>
                <a:latin typeface="Malgun Gothic"/>
                <a:ea typeface="Malgun Gothic"/>
                <a:cs typeface="Malgun Gothic"/>
              </a:rPr>
              <a:t>선별 100% 공유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80577" y="3330416"/>
            <a:ext cx="2380869" cy="2551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6"/>
              </a:lnSpc>
              <a:spcBef>
                <a:spcPts val="0"/>
              </a:spcBef>
              <a:spcAft>
                <a:spcPts val="0"/>
              </a:spcAft>
            </a:pPr>
            <a:r>
              <a:rPr sz="745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Osnap 규칙은 제작도와 같음. ISO 배경 점선 렌더만 다름.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87344" y="2523458"/>
            <a:ext cx="2667047" cy="3489007"/>
          </a:xfrm>
          <a:prstGeom prst="roundRect">
            <a:avLst>
              <a:gd name="adj" fmla="val 3085"/>
            </a:avLst>
          </a:prstGeom>
          <a:solidFill>
            <a:srgbClr val="F6F9FD"/>
          </a:solidFill>
          <a:ln w="9144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187344" y="2523458"/>
            <a:ext cx="2667047" cy="27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30505" y="2640044"/>
            <a:ext cx="2380726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1053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가공도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30505" y="2833211"/>
            <a:ext cx="2380726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단일 부재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30505" y="3013805"/>
            <a:ext cx="2380726" cy="1337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공유 4극점 + 은선 필터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30505" y="3181826"/>
            <a:ext cx="2380726" cy="1275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06"/>
              </a:lnSpc>
              <a:spcBef>
                <a:spcPts val="0"/>
              </a:spcBef>
              <a:spcAft>
                <a:spcPts val="0"/>
              </a:spcAft>
            </a:pPr>
            <a:r>
              <a:rPr sz="745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뒷면 Osnap 제거(단면만). 홀은 이미 제외.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037129" y="2523458"/>
            <a:ext cx="2667190" cy="3489007"/>
          </a:xfrm>
          <a:prstGeom prst="roundRect">
            <a:avLst>
              <a:gd name="adj" fmla="val 3085"/>
            </a:avLst>
          </a:prstGeom>
          <a:solidFill>
            <a:srgbClr val="F6F9FD"/>
          </a:solidFill>
          <a:ln w="9144">
            <a:solidFill>
              <a:srgbClr val="933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37129" y="2523458"/>
            <a:ext cx="2667190" cy="27432"/>
          </a:xfrm>
          <a:prstGeom prst="rect">
            <a:avLst/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0290" y="2640044"/>
            <a:ext cx="2380869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1053" b="1">
                <a:solidFill>
                  <a:srgbClr val="9333EA"/>
                </a:solidFill>
                <a:latin typeface="Malgun Gothic"/>
                <a:ea typeface="Malgun Gothic"/>
                <a:cs typeface="Malgun Gothic"/>
              </a:rPr>
              <a:t>설치도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0290" y="2833211"/>
            <a:ext cx="2380869" cy="1188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선택 STRU + 직접 연결 외부 Part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0290" y="3013805"/>
            <a:ext cx="2380869" cy="1337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53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전체 극점 + 끝단→모서리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290" y="3181826"/>
            <a:ext cx="2380869" cy="2551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06"/>
              </a:lnSpc>
              <a:spcBef>
                <a:spcPts val="0"/>
              </a:spcBef>
              <a:spcAft>
                <a:spcPts val="0"/>
              </a:spcAft>
            </a:pPr>
            <a:r>
              <a:rPr sz="745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LINE·POINT Osnap</a:t>
            </a:r>
            <a:r>
              <a:rPr sz="745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만 사용. 접합영역은 Body 쌍·접합측 모서리 판정에만 사용.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101619"/>
            <a:ext cx="12191952" cy="7563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0" y="610161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3945" y="6235493"/>
            <a:ext cx="203025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핵심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7632" y="6227349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🎯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7632" y="6419945"/>
            <a:ext cx="5449824" cy="28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제작·조립·가공은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“코너 4극점 + 부재당 1점”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을 공유. 설치도는 선택 STRU 전체 극점과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실제 접촉 Target Body의 가까운 끝단·Connected Body의 접합측 모서리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를 남긴다. 접합 중심·A1/A2·연결 Assembly 전체 범위는 치수점으로 쓰지 않는다.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54353" y="6193059"/>
            <a:ext cx="5449966" cy="541496"/>
          </a:xfrm>
          <a:prstGeom prst="roundRect">
            <a:avLst>
              <a:gd name="adj" fmla="val 13509"/>
            </a:avLst>
          </a:prstGeom>
          <a:solidFill>
            <a:srgbClr val="FDF4E3"/>
          </a:solidFill>
          <a:ln w="9144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13826" y="6272069"/>
            <a:ext cx="44176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 용어 주의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97513" y="6263925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⚠️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97513" y="6456521"/>
            <a:ext cx="5163645" cy="140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코드 라벨상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“제작도”=Sheet 1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만, 개별 부재 시트는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“조립도”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. 단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Osnap 선별은 둘이 동일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2191845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룰북 · Osnap 선별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2191845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Osnap 선별 엔진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3822" y="219456"/>
            <a:ext cx="550497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2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059" y="474345"/>
            <a:ext cx="94126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기준일</a:t>
            </a:r>
            <a:r>
              <a:rPr sz="864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2026-07-21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32" y="1068133"/>
            <a:ext cx="5696712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많은 후보 중 → 코너 4극점 + 부재당 1점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32" y="1292161"/>
            <a:ext cx="5696712" cy="4581572"/>
          </a:xfrm>
          <a:prstGeom prst="roundRect">
            <a:avLst>
              <a:gd name="adj" fmla="val 1995"/>
            </a:avLst>
          </a:prstGeom>
          <a:solidFill>
            <a:srgbClr val="F6F9FD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vg14_70_1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1390459"/>
            <a:ext cx="5386101" cy="43849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7632" y="5935456"/>
            <a:ext cx="5696712" cy="1440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4극점(A/B/C/D)은 항상 강제 포함</a:t>
            </a:r>
            <a:r>
              <a:rPr sz="810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+ 부재마다 주축 대표 1점. 나머지 중복 후보는 버림.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9961" y="1068133"/>
            <a:ext cx="5154358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① 수집 단계 — 종류별 취사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49961" y="1292161"/>
            <a:ext cx="5154358" cy="260604"/>
          </a:xfrm>
          <a:prstGeom prst="roundRect">
            <a:avLst>
              <a:gd name="adj" fmla="val 24561"/>
            </a:avLst>
          </a:prstGeom>
          <a:solidFill>
            <a:srgbClr val="EAFAF4"/>
          </a:solidFill>
          <a:ln w="9144">
            <a:solidFill>
              <a:srgbClr val="BF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68690" y="1349311"/>
            <a:ext cx="792384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6371" y="1349311"/>
            <a:ext cx="3605022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모서리 → Start·End 2점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236690" y="1352740"/>
            <a:ext cx="348900" cy="13944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살림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49961" y="1600771"/>
            <a:ext cx="5154358" cy="260604"/>
          </a:xfrm>
          <a:prstGeom prst="roundRect">
            <a:avLst>
              <a:gd name="adj" fmla="val 24561"/>
            </a:avLst>
          </a:prstGeom>
          <a:solidFill>
            <a:srgbClr val="EAFAF4"/>
          </a:solidFill>
          <a:ln w="9144">
            <a:solidFill>
              <a:srgbClr val="BF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68690" y="1657921"/>
            <a:ext cx="792384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6371" y="1657921"/>
            <a:ext cx="3605022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점 → Center 1점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236690" y="1661350"/>
            <a:ext cx="348900" cy="139446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살림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49961" y="1909381"/>
            <a:ext cx="5154358" cy="260604"/>
          </a:xfrm>
          <a:prstGeom prst="roundRect">
            <a:avLst>
              <a:gd name="adj" fmla="val 24561"/>
            </a:avLst>
          </a:prstGeom>
          <a:solidFill>
            <a:srgbClr val="FDECEC"/>
          </a:solidFill>
          <a:ln w="9144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68690" y="1966531"/>
            <a:ext cx="792384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CIRCLE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6371" y="1966531"/>
            <a:ext cx="3605022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36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홀·원 → 전량 제외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36690" y="1969960"/>
            <a:ext cx="348900" cy="13944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842"/>
              </a:lnSpc>
              <a:spcBef>
                <a:spcPts val="0"/>
              </a:spcBef>
              <a:spcAft>
                <a:spcPts val="0"/>
              </a:spcAft>
            </a:pPr>
            <a:r>
              <a:rPr sz="702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버림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9961" y="2238565"/>
            <a:ext cx="5154358" cy="1440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홀 주변 Osnap이 폭증해 치수가 과다해지는 것을 막기 위해 원형은 수집에서 제외.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9961" y="2519743"/>
            <a:ext cx="5154358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② 뷰별 축 매핑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549961" y="2743771"/>
          <a:ext cx="5154357" cy="9326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0839"/>
                <a:gridCol w="1922811"/>
                <a:gridCol w="2230707"/>
              </a:tblGrid>
              <a:tr h="224028"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0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뷰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0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주축 (수직)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09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1D4ED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보조축 (수평)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</a:tr>
              <a:tr h="237744"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1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6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 뷰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1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6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Z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1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6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37744"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1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6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 뷰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1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6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Z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1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6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33172"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1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6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Z 뷰</a:t>
                      </a:r>
                    </a:p>
                  </a:txBody>
                  <a:tcPr marL="36576" marR="36576" marT="9144" marB="9144" anchor="ctr">
                    <a:noFill/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1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6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Y</a:t>
                      </a:r>
                    </a:p>
                  </a:txBody>
                  <a:tcPr marL="36576" marR="36576" marT="9144" marB="9144" anchor="ctr">
                    <a:noFill/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12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6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</a:t>
                      </a:r>
                    </a:p>
                  </a:txBody>
                  <a:tcPr marL="36576" marR="36576" marT="9144" marB="9144" anchor="ctr">
                    <a:noFill/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549961" y="3745039"/>
            <a:ext cx="5154358" cy="291750"/>
          </a:xfrm>
          <a:prstGeom prst="roundRect">
            <a:avLst>
              <a:gd name="adj" fmla="val 25073"/>
            </a:avLst>
          </a:prstGeom>
          <a:solidFill>
            <a:srgbClr val="EEF4FB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>
            <a:noAutofit/>
          </a:bodyPr>
          <a:lstStyle/>
          <a:p>
            <a:pPr algn="l">
              <a:lnSpc>
                <a:spcPts val="1073"/>
              </a:lnSpc>
              <a:spcBef>
                <a:spcPts val="0"/>
              </a:spcBef>
              <a:spcAft>
                <a:spcPts val="0"/>
              </a:spcAft>
            </a:pPr>
            <a:r>
              <a:rPr sz="76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중복 제거</a:t>
            </a: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— 같은 부재의 비-최대점 제거 · 같은 주축값은 </a:t>
            </a:r>
            <a:r>
              <a:rPr sz="76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0.5mm 내</a:t>
            </a: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1점만 유지(보조축 큰 쪽 우선).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168628"/>
            <a:ext cx="12191952" cy="68937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168628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945" y="6302502"/>
            <a:ext cx="781954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방향은 별도 단계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632" y="6294358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632" y="6486953"/>
            <a:ext cx="5449824" cy="140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남긴 Osnap을 어느 쪽 바깥으로 뺄지는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4분면 극점 판정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이 따로 결정(보조선 장표 참조).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54353" y="6260068"/>
            <a:ext cx="5449966" cy="474487"/>
          </a:xfrm>
          <a:prstGeom prst="roundRect">
            <a:avLst>
              <a:gd name="adj" fmla="val 15417"/>
            </a:avLst>
          </a:prstGeom>
          <a:solidFill>
            <a:srgbClr val="FDF4E3"/>
          </a:solidFill>
          <a:ln w="9144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13826" y="6339078"/>
            <a:ext cx="30460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 미구현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97513" y="6330934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7513" y="6523529"/>
            <a:ext cx="5163645" cy="140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홀 중심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을 치수 기준점에 포함하는 것은 향후 과제. Osnap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생성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 조건은 SDK 벤더 확인 대기.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2763202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룰북 · Osnap 선별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2763202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동률일 때의 우선순위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3822" y="219456"/>
            <a:ext cx="550497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3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059" y="474345"/>
            <a:ext cx="94126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기준일</a:t>
            </a:r>
            <a:r>
              <a:rPr sz="864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2026-07-21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7632" y="1061275"/>
            <a:ext cx="11216687" cy="518064"/>
          </a:xfrm>
          <a:prstGeom prst="roundRect">
            <a:avLst>
              <a:gd name="adj" fmla="val 15885"/>
            </a:avLst>
          </a:prstGeom>
          <a:solidFill>
            <a:srgbClr val="EEF4FB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513" y="1176289"/>
            <a:ext cx="3315128" cy="2880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주축 극점(A 위·B 아래)</a:t>
            </a:r>
            <a:r>
              <a:rPr sz="810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이 여러 개면</a:t>
            </a:r>
          </a:p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→ 그 중 </a:t>
            </a:r>
            <a:r>
              <a:rPr sz="81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보조축 MAX = 오른쪽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89666" y="1176289"/>
            <a:ext cx="3315128" cy="2880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보조축 극점(C 오른쪽·D 왼쪽)</a:t>
            </a:r>
            <a:r>
              <a:rPr sz="810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이 여러 개면</a:t>
            </a:r>
          </a:p>
          <a:p>
            <a:pPr algn="l">
              <a:lnSpc>
                <a:spcPts val="1134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→ 그 중 </a:t>
            </a:r>
            <a:r>
              <a:rPr sz="81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주축 MAX = 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99819" y="1159573"/>
            <a:ext cx="3812619" cy="3214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0" rIns="0" tIns="0" bIns="0" wrap="square">
            <a:noAutofit/>
          </a:bodyPr>
          <a:lstStyle/>
          <a:p>
            <a:pPr algn="l">
              <a:lnSpc>
                <a:spcPts val="1266"/>
              </a:lnSpc>
              <a:spcBef>
                <a:spcPts val="0"/>
              </a:spcBef>
              <a:spcAft>
                <a:spcPts val="0"/>
              </a:spcAft>
            </a:pPr>
            <a:r>
              <a:rPr sz="745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45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주축 극점(A·B) </a:t>
            </a:r>
            <a:r>
              <a:rPr sz="745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보조축 극점(C·D)</a:t>
            </a:r>
          </a:p>
          <a:p>
            <a:pPr algn="l">
              <a:lnSpc>
                <a:spcPts val="1266"/>
              </a:lnSpc>
              <a:spcBef>
                <a:spcPts val="0"/>
              </a:spcBef>
              <a:spcAft>
                <a:spcPts val="0"/>
              </a:spcAft>
            </a:pPr>
            <a:r>
              <a:rPr sz="745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45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둘 겸함(A=C) </a:t>
            </a:r>
            <a:r>
              <a:rPr sz="745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미선택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99819" y="1159573"/>
            <a:ext cx="18288" cy="321468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7632" y="1702784"/>
            <a:ext cx="3608879" cy="4449841"/>
          </a:xfrm>
          <a:prstGeom prst="roundRect">
            <a:avLst>
              <a:gd name="adj" fmla="val 2280"/>
            </a:avLst>
          </a:prstGeom>
          <a:solidFill>
            <a:srgbClr val="F6F9FD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8648" y="1780508"/>
            <a:ext cx="3346846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① 직사각형 (축 정렬)</a:t>
            </a:r>
          </a:p>
        </p:txBody>
      </p:sp>
      <p:pic>
        <p:nvPicPr>
          <p:cNvPr id="15" name="Picture 14" descr="svg15_67_2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48" y="1947386"/>
            <a:ext cx="3346846" cy="398749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8648" y="5962316"/>
            <a:ext cx="3346846" cy="11944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위·아래 변이 동률 → </a:t>
            </a:r>
            <a:r>
              <a:rPr sz="702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오른쪽</a:t>
            </a:r>
            <a:r>
              <a:rPr sz="702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선택. </a:t>
            </a:r>
            <a:r>
              <a:rPr sz="702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A·C 겹침</a:t>
            </a:r>
            <a:r>
              <a:rPr sz="702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, 좌하단 미선택.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1536" y="1702784"/>
            <a:ext cx="3608879" cy="4449841"/>
          </a:xfrm>
          <a:prstGeom prst="roundRect">
            <a:avLst>
              <a:gd name="adj" fmla="val 2280"/>
            </a:avLst>
          </a:prstGeom>
          <a:solidFill>
            <a:srgbClr val="F6F9FD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2552" y="1780508"/>
            <a:ext cx="3346846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② 마름모 (경사변)</a:t>
            </a:r>
          </a:p>
        </p:txBody>
      </p:sp>
      <p:pic>
        <p:nvPicPr>
          <p:cNvPr id="19" name="Picture 18" descr="svg15_483_2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552" y="1947386"/>
            <a:ext cx="3346846" cy="39874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22552" y="5962316"/>
            <a:ext cx="3346846" cy="11944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꼭짓점이 뾰족해 </a:t>
            </a:r>
            <a:r>
              <a:rPr sz="702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동률 없음</a:t>
            </a:r>
            <a:r>
              <a:rPr sz="702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. 4극점이 각 꼭짓점에 단독으로.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5440" y="1702784"/>
            <a:ext cx="3608879" cy="4449841"/>
          </a:xfrm>
          <a:prstGeom prst="roundRect">
            <a:avLst>
              <a:gd name="adj" fmla="val 2280"/>
            </a:avLst>
          </a:prstGeom>
          <a:solidFill>
            <a:srgbClr val="F6F9FD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6456" y="1780508"/>
            <a:ext cx="3346846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004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③ L자 (돌출)</a:t>
            </a:r>
          </a:p>
        </p:txBody>
      </p:sp>
      <p:pic>
        <p:nvPicPr>
          <p:cNvPr id="23" name="Picture 22" descr="svg15_899_2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6456" y="1947386"/>
            <a:ext cx="3346846" cy="398749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26456" y="5962316"/>
            <a:ext cx="3346846" cy="11944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0"/>
              </a:spcAft>
            </a:pPr>
            <a:r>
              <a:rPr sz="702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각 변에서 </a:t>
            </a:r>
            <a:r>
              <a:rPr sz="702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MAX 방향 끝</a:t>
            </a:r>
            <a:r>
              <a:rPr sz="702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선택. 안쪽 꺾임점은 극점 아님.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241780"/>
            <a:ext cx="12191952" cy="61621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241780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3945" y="6375654"/>
            <a:ext cx="30460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한마디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632" y="6367510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632" y="6560105"/>
            <a:ext cx="5449824" cy="140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동률이면 항상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위·오른쪽(MAX 방향)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우선. 그래서 뽑히는 꼭짓점이 정해진다.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0665" y="6375654"/>
            <a:ext cx="984980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좌하단이 빠져도 되나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353" y="6367510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353" y="6560105"/>
            <a:ext cx="5449966" cy="140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축정렬 부재는 A=C(우상)로 겹쳐 유효 3점. 그래도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상하·좌우 범위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는 그 점들로 이미 커버돼 치수엔 문제없음.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9039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4826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2245137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룰북 · 치수 보조선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2245137" cy="3096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438"/>
              </a:lnSpc>
              <a:spcBef>
                <a:spcPts val="0"/>
              </a:spcBef>
              <a:spcAft>
                <a:spcPts val="0"/>
              </a:spcAft>
            </a:pPr>
            <a:r>
              <a:rPr sz="2322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치수 보조선 배치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3822" y="219456"/>
            <a:ext cx="550497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1 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059" y="474345"/>
            <a:ext cx="94126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기준일</a:t>
            </a:r>
            <a:r>
              <a:rPr sz="864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2026-07-21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32" y="1075420"/>
            <a:ext cx="6076473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01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구조 — 두 개의 거리로 규정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32" y="1306306"/>
            <a:ext cx="6076473" cy="4377832"/>
          </a:xfrm>
          <a:prstGeom prst="roundRect">
            <a:avLst>
              <a:gd name="adj" fmla="val 2088"/>
            </a:avLst>
          </a:prstGeom>
          <a:solidFill>
            <a:srgbClr val="F6F9FD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vg16_72_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69" y="1418320"/>
            <a:ext cx="5717000" cy="41538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7632" y="5752719"/>
            <a:ext cx="6076473" cy="1540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13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보조선 = 부재에서 </a:t>
            </a:r>
            <a:r>
              <a:rPr sz="83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gap</a:t>
            </a:r>
            <a:r>
              <a:rPr sz="83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만큼 띄운 지점 → </a:t>
            </a:r>
            <a:r>
              <a:rPr sz="83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치수선</a:t>
            </a:r>
            <a:r>
              <a:rPr sz="83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까지. 길이 = 오프셋 − gap </a:t>
            </a:r>
            <a:r>
              <a:rPr sz="83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(가변, 끝은 항상 치수선에 닿음)</a:t>
            </a:r>
            <a:r>
              <a:rPr sz="83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9723" y="1075420"/>
            <a:ext cx="4774596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01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핵심 기준 — 왜 이렇게 띄우나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9723" y="1306306"/>
            <a:ext cx="4774596" cy="457200"/>
          </a:xfrm>
          <a:prstGeom prst="roundRect">
            <a:avLst>
              <a:gd name="adj" fmla="val 20000"/>
            </a:avLst>
          </a:prstGeom>
          <a:solidFill>
            <a:srgbClr val="EEF4FB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3891" y="1425178"/>
            <a:ext cx="436626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555"/>
              </a:lnSpc>
              <a:spcBef>
                <a:spcPts val="0"/>
              </a:spcBef>
              <a:spcAft>
                <a:spcPts val="0"/>
              </a:spcAft>
            </a:pPr>
            <a:r>
              <a:rPr sz="129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종이 절대 mm </a:t>
            </a:r>
            <a:r>
              <a:rPr sz="1296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÷</a:t>
            </a:r>
            <a:r>
              <a:rPr sz="129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 축척 </a:t>
            </a:r>
            <a:r>
              <a:rPr sz="1296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=</a:t>
            </a:r>
            <a:r>
              <a:rPr sz="129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 모델좌표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9723" y="1845802"/>
            <a:ext cx="4774596" cy="157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9"/>
              </a:lnSpc>
              <a:spcBef>
                <a:spcPts val="0"/>
              </a:spcBef>
              <a:spcAft>
                <a:spcPts val="0"/>
              </a:spcAft>
            </a:pPr>
            <a:r>
              <a:rPr sz="918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부재 크기·뷰·축척이 달라도 </a:t>
            </a:r>
            <a:r>
              <a:rPr sz="91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PDF에선 항상 같은 크기</a:t>
            </a:r>
            <a:r>
              <a:rPr sz="918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로 보이게 하는 원리.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9723" y="2057971"/>
            <a:ext cx="4774596" cy="157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9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제작도</a:t>
            </a:r>
            <a:r>
              <a:rPr sz="918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— 축척을 </a:t>
            </a:r>
            <a:r>
              <a:rPr sz="91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추정</a:t>
            </a:r>
            <a:r>
              <a:rPr sz="918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(estScale)해서 역산.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9723" y="2270140"/>
            <a:ext cx="4774596" cy="157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9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가공도</a:t>
            </a:r>
            <a:r>
              <a:rPr sz="918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— 캡처 후 </a:t>
            </a:r>
            <a:r>
              <a:rPr sz="91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실측</a:t>
            </a:r>
            <a:r>
              <a:rPr sz="918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(newScale)해서 역산.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9723" y="2427446"/>
            <a:ext cx="4774596" cy="2057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71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▸ 두 방식이 왜 다르고, 통일할 수 있는지는 2장에서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9723" y="2790920"/>
            <a:ext cx="4774596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01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확정 수치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29723" y="3021806"/>
          <a:ext cx="4774595" cy="15696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4562"/>
                <a:gridCol w="1232296"/>
                <a:gridCol w="1327737"/>
              </a:tblGrid>
              <a:tr h="255746"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1723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64748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제작도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64" b="1">
                          <a:solidFill>
                            <a:srgbClr val="2563E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가공도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DCE3EE"/>
                      </a:solidFill>
                    </a:lnB>
                  </a:tcPr>
                </a:tc>
              </a:tr>
              <a:tr h="287464"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l">
                        <a:lnSpc>
                          <a:spcPts val="12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8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gap (부재 → 시작점)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ctr">
                        <a:lnSpc>
                          <a:spcPts val="12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8" b="1">
                          <a:solidFill>
                            <a:srgbClr val="64748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mm </a:t>
                      </a:r>
                      <a:r>
                        <a:rPr sz="765" b="1">
                          <a:solidFill>
                            <a:srgbClr val="64748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*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square" anchor="t">
                      <a:noAutofit/>
                    </a:bodyPr>
                    <a:lstStyle/>
                    <a:p>
                      <a:pPr algn="ctr">
                        <a:lnSpc>
                          <a:spcPts val="12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8" b="1">
                          <a:solidFill>
                            <a:srgbClr val="2563E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 mm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57746"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2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8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오프셋 · 1단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2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8" b="1">
                          <a:solidFill>
                            <a:srgbClr val="64748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7.5 mm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2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8" b="1">
                          <a:solidFill>
                            <a:srgbClr val="2563E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 mm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57746"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2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8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오프셋 · 2단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2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8" b="1">
                          <a:solidFill>
                            <a:srgbClr val="64748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 mm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2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8" b="1">
                          <a:solidFill>
                            <a:srgbClr val="2563E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 mm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57746"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2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8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오프셋 · 전체(최외곽)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2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8" b="1">
                          <a:solidFill>
                            <a:srgbClr val="64748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~22.5 mm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2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8" b="1">
                          <a:solidFill>
                            <a:srgbClr val="2563E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~27 mm</a:t>
                      </a:r>
                    </a:p>
                  </a:txBody>
                  <a:tcPr marL="36576" marR="36576" marT="9144" marB="9144" anchor="ctr">
                    <a:noFill/>
                    <a:lnB w="9144" cap="flat" cmpd="sng" algn="ctr">
                      <a:solidFill>
                        <a:srgbClr val="EEF2F8"/>
                      </a:solidFill>
                    </a:lnB>
                  </a:tcPr>
                </a:tc>
              </a:tr>
              <a:tr h="253174"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l">
                        <a:lnSpc>
                          <a:spcPts val="12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8" b="1">
                          <a:solidFill>
                            <a:srgbClr val="5C6A8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축척 산출</a:t>
                      </a:r>
                    </a:p>
                  </a:txBody>
                  <a:tcPr marL="36576" marR="36576" marT="9144" marB="9144" anchor="ctr">
                    <a:noFill/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2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8" b="1">
                          <a:solidFill>
                            <a:srgbClr val="64748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추정 estScale</a:t>
                      </a:r>
                    </a:p>
                  </a:txBody>
                  <a:tcPr marL="36576" marR="36576" marT="9144" marB="9144" anchor="ctr">
                    <a:noFill/>
                  </a:tcPr>
                </a:tc>
                <a:tc>
                  <a:txBody>
                    <a:bodyPr lIns="0" rIns="0" tIns="0" bIns="0" wrap="none" anchor="ctr">
                      <a:noAutofit/>
                    </a:bodyPr>
                    <a:lstStyle/>
                    <a:p>
                      <a:pPr algn="ctr">
                        <a:lnSpc>
                          <a:spcPts val="123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18" b="1">
                          <a:solidFill>
                            <a:srgbClr val="2563E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실측 newScale</a:t>
                      </a:r>
                    </a:p>
                  </a:txBody>
                  <a:tcPr marL="36576" marR="36576" marT="9144" marB="9144" anchor="ctr">
                    <a:noFill/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929723" y="4649724"/>
            <a:ext cx="4774596" cy="3097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58"/>
              </a:lnSpc>
              <a:spcBef>
                <a:spcPts val="0"/>
              </a:spcBef>
              <a:spcAft>
                <a:spcPts val="0"/>
              </a:spcAft>
            </a:pPr>
            <a:r>
              <a:rPr sz="756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모든 mm는 </a:t>
            </a:r>
            <a:r>
              <a:rPr sz="756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종이(인쇄물) 절대</a:t>
            </a:r>
            <a:r>
              <a:rPr sz="756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기준. gap 실제값 = </a:t>
            </a:r>
            <a:r>
              <a:rPr sz="756" b="0">
                <a:solidFill>
                  <a:srgbClr val="5C6A82"/>
                </a:solidFill>
                <a:latin typeface="Consolas"/>
                <a:highlight>
                  <a:srgbClr val="EEF2F8"/>
                </a:highlight>
                <a:ea typeface="Consolas"/>
                <a:cs typeface="Consolas"/>
              </a:rPr>
              <a:t>min(2mm ÷ 축척, 보조선길이 × ½)</a:t>
            </a:r>
            <a:r>
              <a:rPr sz="756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630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*</a:t>
            </a:r>
            <a:r>
              <a:rPr sz="756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제작도 3D 미리보기 경로만 10 mm.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5995892"/>
            <a:ext cx="12191952" cy="86210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995892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" y="6131337"/>
            <a:ext cx="447770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방향 기준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32" y="6121622"/>
            <a:ext cx="160162" cy="16544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03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32" y="6321361"/>
            <a:ext cx="5449824" cy="14601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부재 중심 </a:t>
            </a:r>
            <a:r>
              <a:rPr sz="810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4분면</a:t>
            </a:r>
            <a:r>
              <a:rPr sz="810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에서 </a:t>
            </a:r>
            <a:r>
              <a:rPr sz="810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가장 먼 Osnap 극점</a:t>
            </a:r>
            <a:r>
              <a:rPr sz="810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쪽(바깥)으로 보조선·치수를 뺀다.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4353" y="6087332"/>
            <a:ext cx="5449966" cy="647223"/>
          </a:xfrm>
          <a:prstGeom prst="roundRect">
            <a:avLst>
              <a:gd name="adj" fmla="val 11302"/>
            </a:avLst>
          </a:prstGeom>
          <a:solidFill>
            <a:srgbClr val="FDF4E3"/>
          </a:solidFill>
          <a:ln w="9144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0685" y="6174771"/>
            <a:ext cx="867537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 주의 — 옛 값 혼재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658" y="6165056"/>
            <a:ext cx="160162" cy="16544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303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⚠️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658" y="6364795"/>
            <a:ext cx="5139356" cy="2920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사양 문서·코드 주석엔 </a:t>
            </a:r>
            <a:r>
              <a:rPr sz="81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옛 값</a:t>
            </a:r>
            <a:r>
              <a:rPr sz="810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(gap 10 mm · 굵기 0.3 mm)이 남아 있음. 실제는 </a:t>
            </a:r>
            <a:r>
              <a:rPr sz="810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코드 const 기준</a:t>
            </a:r>
            <a:r>
              <a:rPr sz="810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(gap 2 mm · 굵기 0.1~0.15 mm).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9039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94826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3805618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룰북 · 치수 보조선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3805618" cy="30961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438"/>
              </a:lnSpc>
              <a:spcBef>
                <a:spcPts val="0"/>
              </a:spcBef>
              <a:spcAft>
                <a:spcPts val="0"/>
              </a:spcAft>
            </a:pPr>
            <a:r>
              <a:rPr sz="2322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제작도와 가공도의 배율 차이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3822" y="219456"/>
            <a:ext cx="550497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2 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059" y="474345"/>
            <a:ext cx="94126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기준일</a:t>
            </a:r>
            <a:r>
              <a:rPr sz="864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2026-07-21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32" y="1075420"/>
            <a:ext cx="5751004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01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원인 ① 치수를 그리는 순서가 반대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32" y="1306306"/>
            <a:ext cx="2796206" cy="4991909"/>
          </a:xfrm>
          <a:prstGeom prst="roundRect">
            <a:avLst>
              <a:gd name="adj" fmla="val 3270"/>
            </a:avLst>
          </a:prstGeom>
          <a:solidFill>
            <a:srgbClr val="F6F9FD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8648" y="1397746"/>
            <a:ext cx="2534173" cy="1965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제작도 · 추정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648" y="1585198"/>
            <a:ext cx="2534173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8648" y="1635490"/>
            <a:ext cx="2534173" cy="244602"/>
          </a:xfrm>
          <a:prstGeom prst="roundRect">
            <a:avLst>
              <a:gd name="adj" fmla="val 22429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089" y="1678924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119" y="1697926"/>
            <a:ext cx="441769" cy="1195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43"/>
              </a:lnSpc>
              <a:spcBef>
                <a:spcPts val="0"/>
              </a:spcBef>
              <a:spcAft>
                <a:spcPts val="0"/>
              </a:spcAft>
            </a:pPr>
            <a:r>
              <a:rPr sz="799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배율 </a:t>
            </a:r>
            <a:r>
              <a:rPr sz="79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추정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648" y="1921240"/>
            <a:ext cx="2534173" cy="244602"/>
          </a:xfrm>
          <a:prstGeom prst="roundRect">
            <a:avLst>
              <a:gd name="adj" fmla="val 22429"/>
            </a:avLst>
          </a:prstGeom>
          <a:solidFill>
            <a:srgbClr val="FDF4E3"/>
          </a:solidFill>
          <a:ln w="9144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089" y="1964674"/>
            <a:ext cx="157734" cy="15773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6119" y="1983676"/>
            <a:ext cx="768381" cy="1195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43"/>
              </a:lnSpc>
              <a:spcBef>
                <a:spcPts val="0"/>
              </a:spcBef>
              <a:spcAft>
                <a:spcPts val="0"/>
              </a:spcAft>
            </a:pPr>
            <a:r>
              <a:rPr sz="799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치수·보조선 그림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2490" y="1988677"/>
            <a:ext cx="275891" cy="1097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4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← 추정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648" y="2206990"/>
            <a:ext cx="2534173" cy="244602"/>
          </a:xfrm>
          <a:prstGeom prst="roundRect">
            <a:avLst>
              <a:gd name="adj" fmla="val 22429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3089" y="2250424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6119" y="2269426"/>
            <a:ext cx="441769" cy="1195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43"/>
              </a:lnSpc>
              <a:spcBef>
                <a:spcPts val="0"/>
              </a:spcBef>
              <a:spcAft>
                <a:spcPts val="0"/>
              </a:spcAft>
            </a:pPr>
            <a:r>
              <a:rPr sz="799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모델 캡처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648" y="2492740"/>
            <a:ext cx="2534173" cy="244602"/>
          </a:xfrm>
          <a:prstGeom prst="roundRect">
            <a:avLst>
              <a:gd name="adj" fmla="val 22429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3089" y="2536174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6119" y="2555176"/>
            <a:ext cx="1118282" cy="1195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43"/>
              </a:lnSpc>
              <a:spcBef>
                <a:spcPts val="0"/>
              </a:spcBef>
              <a:spcAft>
                <a:spcPts val="0"/>
              </a:spcAft>
            </a:pPr>
            <a:r>
              <a:rPr sz="799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실측 확정 </a:t>
            </a:r>
            <a:r>
              <a:rPr sz="799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(치수엔 못 씀)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648" y="5922740"/>
            <a:ext cx="2534173" cy="284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72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캡처보다 먼저</a:t>
            </a:r>
            <a:r>
              <a:rPr sz="729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그려서</a:t>
            </a:r>
          </a:p>
          <a:p>
            <a:pPr algn="ct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729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추정값만 쓸 수 있음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42287" y="1306306"/>
            <a:ext cx="2796349" cy="4991909"/>
          </a:xfrm>
          <a:prstGeom prst="roundRect">
            <a:avLst>
              <a:gd name="adj" fmla="val 3269"/>
            </a:avLst>
          </a:prstGeom>
          <a:solidFill>
            <a:srgbClr val="F6F9FD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73303" y="1397746"/>
            <a:ext cx="2534316" cy="19659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ctr">
              <a:lnSpc>
                <a:spcPts val="1049"/>
              </a:lnSpc>
              <a:spcBef>
                <a:spcPts val="0"/>
              </a:spcBef>
              <a:spcAft>
                <a:spcPts val="0"/>
              </a:spcAft>
            </a:pPr>
            <a:r>
              <a:rPr sz="874" b="1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가공도 · 실측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73303" y="1585198"/>
            <a:ext cx="2534316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73303" y="1635490"/>
            <a:ext cx="2534316" cy="244602"/>
          </a:xfrm>
          <a:prstGeom prst="roundRect">
            <a:avLst>
              <a:gd name="adj" fmla="val 22429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667744" y="1678924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10774" y="1697926"/>
            <a:ext cx="441769" cy="1195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43"/>
              </a:lnSpc>
              <a:spcBef>
                <a:spcPts val="0"/>
              </a:spcBef>
              <a:spcAft>
                <a:spcPts val="0"/>
              </a:spcAft>
            </a:pPr>
            <a:r>
              <a:rPr sz="799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모델 캡처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73303" y="1921240"/>
            <a:ext cx="2534316" cy="244602"/>
          </a:xfrm>
          <a:prstGeom prst="roundRect">
            <a:avLst>
              <a:gd name="adj" fmla="val 22429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667744" y="1964674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10774" y="1983676"/>
            <a:ext cx="680513" cy="1195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43"/>
              </a:lnSpc>
              <a:spcBef>
                <a:spcPts val="0"/>
              </a:spcBef>
              <a:spcAft>
                <a:spcPts val="0"/>
              </a:spcAft>
            </a:pPr>
            <a:r>
              <a:rPr sz="799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실측 배율 </a:t>
            </a:r>
            <a:r>
              <a:rPr sz="79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확정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73303" y="2206990"/>
            <a:ext cx="2534316" cy="244602"/>
          </a:xfrm>
          <a:prstGeom prst="roundRect">
            <a:avLst>
              <a:gd name="adj" fmla="val 22429"/>
            </a:avLst>
          </a:prstGeom>
          <a:solidFill>
            <a:srgbClr val="EAFAF4"/>
          </a:solidFill>
          <a:ln w="9144">
            <a:solidFill>
              <a:srgbClr val="BF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67744" y="2250424"/>
            <a:ext cx="157734" cy="15773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10774" y="2269426"/>
            <a:ext cx="768381" cy="11958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43"/>
              </a:lnSpc>
              <a:spcBef>
                <a:spcPts val="0"/>
              </a:spcBef>
              <a:spcAft>
                <a:spcPts val="0"/>
              </a:spcAft>
            </a:pPr>
            <a:r>
              <a:rPr sz="799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치수·보조선 그림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37288" y="2274427"/>
            <a:ext cx="275891" cy="1097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777"/>
              </a:lnSpc>
              <a:spcBef>
                <a:spcPts val="0"/>
              </a:spcBef>
              <a:spcAft>
                <a:spcPts val="0"/>
              </a:spcAft>
            </a:pPr>
            <a:r>
              <a:rPr sz="648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← 실측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73303" y="5922740"/>
            <a:ext cx="2534316" cy="2840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72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캡처 뒤에</a:t>
            </a:r>
            <a:r>
              <a:rPr sz="729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그려서</a:t>
            </a:r>
          </a:p>
          <a:p>
            <a:pPr algn="ctr">
              <a:lnSpc>
                <a:spcPts val="984"/>
              </a:lnSpc>
              <a:spcBef>
                <a:spcPts val="0"/>
              </a:spcBef>
              <a:spcAft>
                <a:spcPts val="0"/>
              </a:spcAft>
            </a:pPr>
            <a:r>
              <a:rPr sz="729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실측값을 쓸 수 있음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04254" y="1075420"/>
            <a:ext cx="5099923" cy="1108138"/>
          </a:xfrm>
          <a:prstGeom prst="roundRect">
            <a:avLst>
              <a:gd name="adj" fmla="val 8251"/>
            </a:avLst>
          </a:prstGeom>
          <a:solidFill>
            <a:srgbClr val="EEF4FB"/>
          </a:solidFill>
          <a:ln w="9144">
            <a:solidFill>
              <a:srgbClr val="D5E0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31164" y="1187434"/>
            <a:ext cx="2021252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4"/>
              </a:lnSpc>
              <a:spcBef>
                <a:spcPts val="0"/>
              </a:spcBef>
              <a:spcAft>
                <a:spcPts val="0"/>
              </a:spcAft>
            </a:pPr>
            <a:r>
              <a:rPr sz="928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 반전 — 가공도가 실측을 쓴 진짜 이유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96135" y="1187434"/>
            <a:ext cx="16202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4"/>
              </a:lnSpc>
              <a:spcBef>
                <a:spcPts val="0"/>
              </a:spcBef>
              <a:spcAft>
                <a:spcPts val="0"/>
              </a:spcAft>
            </a:pPr>
            <a:r>
              <a:rPr sz="928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96135" y="1404604"/>
            <a:ext cx="4716160" cy="6669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가공도는 긴 부재를 </a:t>
            </a:r>
            <a:r>
              <a:rPr sz="874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90° 눕혀서</a:t>
            </a:r>
            <a:r>
              <a:rPr sz="874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배치한다. 추정은 </a:t>
            </a:r>
            <a:r>
              <a:rPr sz="874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눕히기 전</a:t>
            </a:r>
            <a:r>
              <a:rPr sz="874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크기로 계산해 </a:t>
            </a:r>
            <a:r>
              <a:rPr sz="874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크게 어긋나</a:t>
            </a:r>
            <a:r>
              <a:rPr sz="874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→ 실측이 </a:t>
            </a:r>
            <a:r>
              <a:rPr sz="874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필수</a:t>
            </a:r>
            <a:r>
              <a:rPr sz="874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였다.</a:t>
            </a: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874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제작도엔 이 </a:t>
            </a:r>
            <a:r>
              <a:rPr sz="874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90° 회전이 없어</a:t>
            </a:r>
            <a:r>
              <a:rPr sz="874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추정으로도 </a:t>
            </a:r>
            <a:r>
              <a:rPr sz="874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잘 맞는다</a:t>
            </a:r>
            <a:r>
              <a:rPr sz="874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. 즉 제작도는 정확도에서 밀린 게 아니다.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39283" y="2320718"/>
            <a:ext cx="1870662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4"/>
              </a:lnSpc>
              <a:spcBef>
                <a:spcPts val="0"/>
              </a:spcBef>
              <a:spcAft>
                <a:spcPts val="0"/>
              </a:spcAft>
            </a:pPr>
            <a:r>
              <a:rPr sz="928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 제작도도 실측으로 통일할 수 있나?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4254" y="2320718"/>
            <a:ext cx="16202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4"/>
              </a:lnSpc>
              <a:spcBef>
                <a:spcPts val="0"/>
              </a:spcBef>
              <a:spcAft>
                <a:spcPts val="0"/>
              </a:spcAft>
            </a:pPr>
            <a:r>
              <a:rPr sz="928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🔧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65361" y="2528744"/>
            <a:ext cx="2320432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— 가공도가 이미 검증한 패턴 그대로 적용 가능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254" y="2540031"/>
            <a:ext cx="150733" cy="14258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96719" y="2528744"/>
            <a:ext cx="568642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구조상 가능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96719" y="2711481"/>
            <a:ext cx="1068419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제작도 그리기 함수의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89459" y="2711481"/>
            <a:ext cx="712231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이 선행돼야 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04254" y="2722768"/>
            <a:ext cx="150733" cy="14258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⚠️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65138" y="2711481"/>
            <a:ext cx="1424320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‘수집 / 그리기’ 분리 리팩토링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96719" y="2894218"/>
            <a:ext cx="855964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잘 나오는 경로라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325" y="2894218"/>
            <a:ext cx="755237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+ 오차가 작아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4254" y="2905506"/>
            <a:ext cx="150733" cy="14258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⚠️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52683" y="2894218"/>
            <a:ext cx="568642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회귀 리스크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76563" y="2894218"/>
            <a:ext cx="568642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실익이 작음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96719" y="3076956"/>
            <a:ext cx="356187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그래서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21549" y="3076956"/>
            <a:ext cx="2134266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— 실기에서 어긋남이 보고되면 우선순위 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04254" y="3088243"/>
            <a:ext cx="150733" cy="14258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864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⏸️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52906" y="3076956"/>
            <a:ext cx="568642" cy="14630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36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지금은 보류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387369"/>
            <a:ext cx="12191952" cy="47063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38736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32211" y="6533673"/>
            <a:ext cx="6527387" cy="18716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74"/>
              </a:lnSpc>
              <a:spcBef>
                <a:spcPts val="0"/>
              </a:spcBef>
              <a:spcAft>
                <a:spcPts val="0"/>
              </a:spcAft>
            </a:pP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제작도는 정확도에서 밀려 추정을 쓰는 게 아니라 — </a:t>
            </a:r>
            <a:r>
              <a:rPr sz="1053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추정을 망칠 요인(90° 회전)이 없어 추정으로 충분한 것</a:t>
            </a:r>
            <a:r>
              <a:rPr sz="1053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1907809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룰북 · 치수 선별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1907809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치수 선별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3822" y="219456"/>
            <a:ext cx="550497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1 /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059" y="474345"/>
            <a:ext cx="94126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기준일</a:t>
            </a:r>
            <a:r>
              <a:rPr sz="864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32" y="1061275"/>
            <a:ext cx="4686871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① 가져오기 — 무엇에서 뽑나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32" y="1285303"/>
            <a:ext cx="830675" cy="17173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Osnap 기준점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9172" y="1285303"/>
            <a:ext cx="862822" cy="171735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설치 위치 치수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32" y="1525619"/>
            <a:ext cx="4686871" cy="725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축(X·Y·Z)마다 </a:t>
            </a:r>
            <a:r>
              <a:rPr sz="78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Osnap 기준점을 좌표 순으로 늘어놓고 이웃끼리 이은 구간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이 치수 후보가 된다. 부재가 많은 도면에서는 한 축에만 수십 개가 나온다.</a:t>
            </a:r>
          </a:p>
          <a:p>
            <a:pPr algn="l">
              <a:lnSpc>
                <a:spcPts val="1143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ts val="114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여기에 </a:t>
            </a:r>
            <a:r>
              <a:rPr sz="78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부재 전체 길이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와, 설치도에서 따로 계산한 </a:t>
            </a:r>
            <a:r>
              <a:rPr sz="78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연결부재 위치 치수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가 </a:t>
            </a:r>
            <a:r>
              <a:rPr sz="788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"반드시 그릴 것"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표시를 달고 합류한다.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91400" y="1061275"/>
            <a:ext cx="621291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② 거르기 — 축 하나를 이렇게 추린다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1400" y="1285303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EAFAF4"/>
          </a:solidFill>
          <a:ln w="9144">
            <a:solidFill>
              <a:srgbClr val="BF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10129" y="1327308"/>
            <a:ext cx="157734" cy="15773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3160" y="1343025"/>
            <a:ext cx="5732430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전체 길이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와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설치 위치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는 무조건 남긴다 — 개수·겹침 검사 이전에 확정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91400" y="1561338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10129" y="1603343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3160" y="1619059"/>
            <a:ext cx="5732430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나머지는 그 축 안에서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상대적 크기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로 순위를 매긴다 (아래)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91400" y="1837372"/>
            <a:ext cx="6212919" cy="336613"/>
          </a:xfrm>
          <a:prstGeom prst="roundRect">
            <a:avLst>
              <a:gd name="adj" fmla="val 19015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10129" y="1926812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3160" y="1879377"/>
            <a:ext cx="5315521" cy="2526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기준보다 짧은 치수가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연달아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있으면 하나로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합친다</a:t>
            </a:r>
          </a:p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77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혼자 있으면 합치지 않고 순위만 낮춘다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53978" y="1937099"/>
            <a:ext cx="331612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33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25 mm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91400" y="2208276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EAFAF4"/>
          </a:solidFill>
          <a:ln w="9144">
            <a:solidFill>
              <a:srgbClr val="BF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10129" y="2250281"/>
            <a:ext cx="157734" cy="15773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3160" y="2265997"/>
            <a:ext cx="5732430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순위 높은 것부터 놓되, 앞서 놓인 치수와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글자가 겹치지 않으면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1단에 확정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91400" y="2484310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DF4E3"/>
          </a:solidFill>
          <a:ln w="9144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10129" y="2526315"/>
            <a:ext cx="157734" cy="15773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3160" y="2542032"/>
            <a:ext cx="5392245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겹치면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2단으로 내려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다시 시도 — 중간 순위 이상만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0701" y="2536602"/>
            <a:ext cx="25488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33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5점↑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91400" y="2760345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DECEC"/>
          </a:solidFill>
          <a:ln w="9144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610129" y="2802350"/>
            <a:ext cx="157734" cy="15773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3160" y="2818066"/>
            <a:ext cx="5258800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2단에서도 겹치거나, 축이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이미 다 찼으면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버린다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97256" y="2812637"/>
            <a:ext cx="388334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33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축당 8개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91400" y="3050095"/>
            <a:ext cx="1507474" cy="455771"/>
          </a:xfrm>
          <a:prstGeom prst="roundRect">
            <a:avLst>
              <a:gd name="adj" fmla="val 12037"/>
            </a:avLst>
          </a:prstGeom>
          <a:solidFill>
            <a:srgbClr val="E8F0FE"/>
          </a:solidFill>
          <a:ln w="9144">
            <a:solidFill>
              <a:srgbClr val="C7DA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6977" y="3090100"/>
            <a:ext cx="1416319" cy="2203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68"/>
              </a:lnSpc>
              <a:spcBef>
                <a:spcPts val="0"/>
              </a:spcBef>
              <a:spcAft>
                <a:spcPts val="0"/>
              </a:spcAft>
            </a:pPr>
            <a:r>
              <a:rPr sz="72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그 축에서 가장 긴 쪽</a:t>
            </a:r>
          </a:p>
          <a:p>
            <a:pPr algn="ctr">
              <a:lnSpc>
                <a:spcPts val="868"/>
              </a:lnSpc>
              <a:spcBef>
                <a:spcPts val="0"/>
              </a:spcBef>
              <a:spcAft>
                <a:spcPts val="0"/>
              </a:spcAft>
            </a:pPr>
            <a:r>
              <a:rPr sz="72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상위 30%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6977" y="3310413"/>
            <a:ext cx="141631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01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8점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59739" y="3050095"/>
            <a:ext cx="1507617" cy="455771"/>
          </a:xfrm>
          <a:prstGeom prst="roundRect">
            <a:avLst>
              <a:gd name="adj" fmla="val 12037"/>
            </a:avLst>
          </a:prstGeom>
          <a:solidFill>
            <a:srgbClr val="EEF4FB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05316" y="3090100"/>
            <a:ext cx="1416462" cy="2203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68"/>
              </a:lnSpc>
              <a:spcBef>
                <a:spcPts val="0"/>
              </a:spcBef>
              <a:spcAft>
                <a:spcPts val="0"/>
              </a:spcAft>
            </a:pPr>
            <a:r>
              <a:rPr sz="72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중간</a:t>
            </a:r>
          </a:p>
          <a:p>
            <a:pPr algn="ctr">
              <a:lnSpc>
                <a:spcPts val="868"/>
              </a:lnSpc>
              <a:spcBef>
                <a:spcPts val="0"/>
              </a:spcBef>
              <a:spcAft>
                <a:spcPts val="0"/>
              </a:spcAft>
            </a:pPr>
            <a:r>
              <a:rPr sz="72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30%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5316" y="3310413"/>
            <a:ext cx="1416462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01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3B6BD4"/>
                </a:solidFill>
                <a:latin typeface="Malgun Gothic"/>
                <a:ea typeface="Malgun Gothic"/>
                <a:cs typeface="Malgun Gothic"/>
              </a:rPr>
              <a:t>5점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28221" y="3050095"/>
            <a:ext cx="1507617" cy="455771"/>
          </a:xfrm>
          <a:prstGeom prst="roundRect">
            <a:avLst>
              <a:gd name="adj" fmla="val 12037"/>
            </a:avLst>
          </a:prstGeom>
          <a:solidFill>
            <a:srgbClr val="F6F9FD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73798" y="3090100"/>
            <a:ext cx="1416462" cy="2203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68"/>
              </a:lnSpc>
              <a:spcBef>
                <a:spcPts val="0"/>
              </a:spcBef>
              <a:spcAft>
                <a:spcPts val="0"/>
              </a:spcAft>
            </a:pPr>
            <a:r>
              <a:rPr sz="72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하위</a:t>
            </a:r>
          </a:p>
          <a:p>
            <a:pPr algn="ctr">
              <a:lnSpc>
                <a:spcPts val="868"/>
              </a:lnSpc>
              <a:spcBef>
                <a:spcPts val="0"/>
              </a:spcBef>
              <a:spcAft>
                <a:spcPts val="0"/>
              </a:spcAft>
            </a:pPr>
            <a:r>
              <a:rPr sz="72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25%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73798" y="3310413"/>
            <a:ext cx="1416462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01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3점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96703" y="3050095"/>
            <a:ext cx="1507617" cy="455771"/>
          </a:xfrm>
          <a:prstGeom prst="roundRect">
            <a:avLst>
              <a:gd name="adj" fmla="val 12037"/>
            </a:avLst>
          </a:prstGeom>
          <a:solidFill>
            <a:srgbClr val="FBFCFE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2280" y="3090100"/>
            <a:ext cx="1416462" cy="2203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68"/>
              </a:lnSpc>
              <a:spcBef>
                <a:spcPts val="0"/>
              </a:spcBef>
              <a:spcAft>
                <a:spcPts val="0"/>
              </a:spcAft>
            </a:pPr>
            <a:r>
              <a:rPr sz="72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가장 짧은 쪽</a:t>
            </a:r>
          </a:p>
          <a:p>
            <a:pPr algn="ctr">
              <a:lnSpc>
                <a:spcPts val="868"/>
              </a:lnSpc>
              <a:spcBef>
                <a:spcPts val="0"/>
              </a:spcBef>
              <a:spcAft>
                <a:spcPts val="0"/>
              </a:spcAft>
            </a:pPr>
            <a:r>
              <a:rPr sz="723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15%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2280" y="3310413"/>
            <a:ext cx="1416462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101"/>
              </a:lnSpc>
              <a:spcBef>
                <a:spcPts val="0"/>
              </a:spcBef>
              <a:spcAft>
                <a:spcPts val="0"/>
              </a:spcAft>
            </a:pPr>
            <a:r>
              <a:rPr sz="918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1점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7632" y="3615594"/>
            <a:ext cx="1121668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③ 놓기 — 도면에는 이렇게 나온다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7632" y="3839622"/>
            <a:ext cx="11216687" cy="1908524"/>
          </a:xfrm>
          <a:prstGeom prst="roundRect">
            <a:avLst>
              <a:gd name="adj" fmla="val 4791"/>
            </a:avLst>
          </a:prstGeom>
          <a:solidFill>
            <a:srgbClr val="F6F9FD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svg18_70_4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3937920"/>
            <a:ext cx="10906077" cy="171192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04529" y="5793867"/>
            <a:ext cx="52120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3"/>
              </a:lnSpc>
              <a:spcBef>
                <a:spcPts val="0"/>
              </a:spcBef>
              <a:spcAft>
                <a:spcPts val="0"/>
              </a:spcAft>
            </a:pP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무조건 남김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7632" y="5862018"/>
            <a:ext cx="268176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7632" y="5862018"/>
            <a:ext cx="268176" cy="182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10810" y="5793867"/>
            <a:ext cx="1069562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3"/>
              </a:lnSpc>
              <a:spcBef>
                <a:spcPts val="0"/>
              </a:spcBef>
              <a:spcAft>
                <a:spcPts val="0"/>
              </a:spcAft>
            </a:pP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1단 — 겹치지 않아 확정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93913" y="5862018"/>
            <a:ext cx="268176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593913" y="5862018"/>
            <a:ext cx="268176" cy="18288"/>
          </a:xfrm>
          <a:prstGeom prst="rect">
            <a:avLst/>
          </a:prstGeom>
          <a:solidFill>
            <a:srgbClr val="2F3D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65445" y="5793867"/>
            <a:ext cx="937974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3"/>
              </a:lnSpc>
              <a:spcBef>
                <a:spcPts val="0"/>
              </a:spcBef>
              <a:spcAft>
                <a:spcPts val="0"/>
              </a:spcAft>
            </a:pP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2단 — 겹쳐서 내려옴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48548" y="5862018"/>
            <a:ext cx="268176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48548" y="5862018"/>
            <a:ext cx="268176" cy="1828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88493" y="5793867"/>
            <a:ext cx="29217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3"/>
              </a:lnSpc>
              <a:spcBef>
                <a:spcPts val="0"/>
              </a:spcBef>
              <a:spcAft>
                <a:spcPts val="0"/>
              </a:spcAft>
            </a:pP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버려짐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71596" y="5862018"/>
            <a:ext cx="268176" cy="1828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771596" y="5862018"/>
            <a:ext cx="268176" cy="18288"/>
          </a:xfrm>
          <a:prstGeom prst="rect">
            <a:avLst/>
          </a:prstGeom>
          <a:solidFill>
            <a:srgbClr val="C8C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48848" y="5803011"/>
            <a:ext cx="4211240" cy="136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3"/>
              </a:lnSpc>
              <a:spcBef>
                <a:spcPts val="0"/>
              </a:spcBef>
              <a:spcAft>
                <a:spcPts val="0"/>
              </a:spcAft>
            </a:pP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글자는 항상 </a:t>
            </a:r>
            <a:r>
              <a:rPr sz="76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보조선 바깥쪽 3 mm</a:t>
            </a: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에 붙는다 — 좁은 치수에서 글자가 보조선을 침범하지 않도록.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028467"/>
            <a:ext cx="12191952" cy="8295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6028467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3945" y="6162341"/>
            <a:ext cx="883396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겹침은 이렇게 판정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7632" y="6154197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📏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7632" y="6346793"/>
            <a:ext cx="5449824" cy="28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글자 폭을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자릿수로 추정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해(최소 25 mm, 자릿수×5+10) 두 치수의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중심 거리가 두 폭의 절반 합보다 가까우면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겹친 것으로 본다. SDK에 글자 폭을 재는 기능이 없어 추정한다.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254353" y="6119907"/>
            <a:ext cx="5449966" cy="614648"/>
          </a:xfrm>
          <a:prstGeom prst="roundRect">
            <a:avLst>
              <a:gd name="adj" fmla="val 11901"/>
            </a:avLst>
          </a:prstGeom>
          <a:solidFill>
            <a:srgbClr val="FDF4E3"/>
          </a:solidFill>
          <a:ln w="9144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13826" y="6198917"/>
            <a:ext cx="1079420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 축당 8개는 축마다 따로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97513" y="6190773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⚠️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97513" y="6383369"/>
            <a:ext cx="5163645" cy="28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제한은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축 단위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다. X·Y·Z가 각각 8개까지라 한 도면에 최대 24개가 나올 수 있다. 전체 길이는 이 8개에 포함되지 않는다.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1907809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룰북 · 각도 표시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1907809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각도 표시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3822" y="219456"/>
            <a:ext cx="550497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1 /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059" y="474345"/>
            <a:ext cx="94126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기준일</a:t>
            </a:r>
            <a:r>
              <a:rPr sz="864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32" y="1061275"/>
            <a:ext cx="4686871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① 가져오기 — 무엇에서 뽑나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32" y="1285303"/>
            <a:ext cx="958834" cy="17173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부재 모서리 선분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7331" y="1285303"/>
            <a:ext cx="862822" cy="17173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간섭 검사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632" y="1525619"/>
            <a:ext cx="4686871" cy="725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부재마다 </a:t>
            </a:r>
            <a:r>
              <a:rPr sz="78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모서리 선분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을 모아 그 부재가 뻗은 방향(길이축)을 정하고, </a:t>
            </a:r>
            <a:r>
              <a:rPr sz="78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간섭 검사 결과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로 어느 부재끼리 실제로 맞닿는지 본다.</a:t>
            </a:r>
          </a:p>
          <a:p>
            <a:pPr algn="l">
              <a:lnSpc>
                <a:spcPts val="1143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ts val="114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표시 대상은 </a:t>
            </a:r>
            <a:r>
              <a:rPr sz="788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서로 다른 두 부재가 만나는 곳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뿐이다. 한 부재가 스스로 꺾인 ㄱ자 모서리는 각도를 그리지 않는다.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91400" y="1061275"/>
            <a:ext cx="621291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② 거르기 — 이 조건을 다 통과해야 그린다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1400" y="1285303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DECEC"/>
          </a:solidFill>
          <a:ln w="9144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10129" y="1327308"/>
            <a:ext cx="157734" cy="15773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3160" y="1343025"/>
            <a:ext cx="5732430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판형 부재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(판·패드)는 후보에서 뺀다 — 길이 방향이 정해지지 않음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91400" y="1561338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10129" y="1603343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3160" y="1619059"/>
            <a:ext cx="5319236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모서리 선분을 방향이 비슷하면 한 묶음으로 모아,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길이 합이 가장 큰 방향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을 길이축으로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57692" y="1613630"/>
            <a:ext cx="32789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33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묶음 5°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91400" y="1837372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10129" y="1879377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3160" y="1895094"/>
            <a:ext cx="5372671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두 부재가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붙었나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— 형상 표면이 닿거나(간섭 검사) 끝점이 가까우면 접합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11128" y="1889664"/>
            <a:ext cx="274462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33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3 mm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91400" y="2113407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DECEC"/>
          </a:solidFill>
          <a:ln w="9144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10129" y="2155412"/>
            <a:ext cx="157734" cy="15773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3160" y="2171128"/>
            <a:ext cx="5480399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두 길이축의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실제 3D 사잇각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이 90°의 배수면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안 그린다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— 직각·평행은 당연하므로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18855" y="2165699"/>
            <a:ext cx="166735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33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±1°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91400" y="2389441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EAFAF4"/>
          </a:solidFill>
          <a:ln w="9144">
            <a:solidFill>
              <a:srgbClr val="BF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10129" y="2431446"/>
            <a:ext cx="157734" cy="15773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3160" y="2447163"/>
            <a:ext cx="5166931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남은 것을, 두 축이 만드는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접합 평면이 정면으로 보이는 뷰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에만 그린다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5388" y="2441733"/>
            <a:ext cx="480202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33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3뷰 중 1곳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632" y="2740914"/>
            <a:ext cx="1121668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③ 놓기 — 도면에는 이렇게 나온다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87632" y="2964942"/>
            <a:ext cx="11216687" cy="2783205"/>
          </a:xfrm>
          <a:prstGeom prst="roundRect">
            <a:avLst>
              <a:gd name="adj" fmla="val 3285"/>
            </a:avLst>
          </a:prstGeom>
          <a:solidFill>
            <a:srgbClr val="F6F9FD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vg19_70_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3063240"/>
            <a:ext cx="10906077" cy="25866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87632" y="5803011"/>
            <a:ext cx="11216687" cy="136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3"/>
              </a:lnSpc>
              <a:spcBef>
                <a:spcPts val="0"/>
              </a:spcBef>
              <a:spcAft>
                <a:spcPts val="0"/>
              </a:spcAft>
            </a:pP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각도는 </a:t>
            </a:r>
            <a:r>
              <a:rPr sz="76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파란색</a:t>
            </a: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으로 </a:t>
            </a:r>
            <a:r>
              <a:rPr sz="76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소수점 없이</a:t>
            </a: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표시한다. 접합점에서 각 부재의 몸통 쪽으로 뻗은 두 선 사이에 호를 그린다. </a:t>
            </a:r>
            <a:r>
              <a:rPr sz="76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ISO 뷰에는 그리지 않는다</a:t>
            </a: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— 직교 3뷰(X·Y·Z)에서만.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028467"/>
            <a:ext cx="12191952" cy="8295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028467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3945" y="6162341"/>
            <a:ext cx="1086421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길이축을 이렇게 바꿨다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7632" y="6154197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632" y="6346793"/>
            <a:ext cx="5449824" cy="28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예전엔 부재의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점들이 퍼진 방향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으로 길이축을 잡았는데, 사선 끝단·홀의 점이 몰린 쪽으로 몇 도 기울어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실제 90° 접합을 87°로 잘못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잡았다. 지금은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모서리 방향의 길이 합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으로 정해 점 분포에 흔들리지 않는다.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4353" y="6119907"/>
            <a:ext cx="5449966" cy="614648"/>
          </a:xfrm>
          <a:prstGeom prst="roundRect">
            <a:avLst>
              <a:gd name="adj" fmla="val 11901"/>
            </a:avLst>
          </a:prstGeom>
          <a:solidFill>
            <a:srgbClr val="FDF4E3"/>
          </a:solidFill>
          <a:ln w="9144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13826" y="6198917"/>
            <a:ext cx="716089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 각이 안 나올 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7513" y="6190773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⚠️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7513" y="6383369"/>
            <a:ext cx="5163645" cy="28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대부분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판형이라 제외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됐거나,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모서리 선분이 없어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 길이축을 못 정한 경우다. 진단 로그에 부재별 제외 사유가 남는다.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2576464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룰북 · 설치 위치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2576464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설치 위치 치수 기준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3822" y="219456"/>
            <a:ext cx="550497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1 /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059" y="474345"/>
            <a:ext cx="94126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기준일</a:t>
            </a:r>
            <a:r>
              <a:rPr sz="864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32" y="1061275"/>
            <a:ext cx="4686871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① 가져오기 — 무엇에서 뽑나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32" y="1285303"/>
            <a:ext cx="733091" cy="171735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실제 접합선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1588" y="1285303"/>
            <a:ext cx="958834" cy="17173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기준 부재 모서리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01287" y="1285303"/>
            <a:ext cx="862822" cy="171735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간섭 검사 결과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32" y="1525619"/>
            <a:ext cx="4686871" cy="725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설치도는 </a:t>
            </a:r>
            <a:r>
              <a:rPr sz="78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선택한 구조물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을 실선으로, 거기에 </a:t>
            </a:r>
            <a:r>
              <a:rPr sz="78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직접 연결된 바깥 부재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를 점선으로 그린다. 위치를 재는 자리는 두 부재가 </a:t>
            </a:r>
            <a:r>
              <a:rPr sz="788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물리적으로 맞닿는 교선(접합선)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이다.</a:t>
            </a:r>
          </a:p>
          <a:p>
            <a:pPr algn="l">
              <a:lnSpc>
                <a:spcPts val="1143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ts val="114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연결부재의 형상점이 아니라 접합선을 쓰는 이유 — 접합선은 정의상 </a:t>
            </a:r>
            <a:r>
              <a:rPr sz="78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기준 부재 표면 위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에 있어, 위치가 부재 밖으로 나갈 수 없다.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1400" y="1061275"/>
            <a:ext cx="621291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② 거르기 — 어느 축에 위치 치수를 낼지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1400" y="1285303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10129" y="1327308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3160" y="1343025"/>
            <a:ext cx="5732430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기준 부재의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길이 방향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으로 형상점을 늘어놓고, 연결부재에 가까운 쪽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끝단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을 출발점으로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91400" y="1561338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10129" y="1603343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3160" y="1619059"/>
            <a:ext cx="5111638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축마다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덮음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을 잰다 — 접합이 그 축으로 부재를 얼마나 덮고 있나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50095" y="1613630"/>
            <a:ext cx="535495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33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접합 ÷ 부재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91400" y="1837372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DECEC"/>
          </a:solidFill>
          <a:ln w="9144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10129" y="1879377"/>
            <a:ext cx="157734" cy="15773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3160" y="1895094"/>
            <a:ext cx="5213937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절반 넘게 덮으면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가로지르는 것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— 특정 위치가 없으니 그 축은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생략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2393" y="1889664"/>
            <a:ext cx="433197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33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50% 이상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91400" y="2113407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EAFAF4"/>
          </a:solidFill>
          <a:ln w="9144">
            <a:solidFill>
              <a:srgbClr val="BF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10129" y="2155412"/>
            <a:ext cx="157734" cy="15773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3160" y="2171128"/>
            <a:ext cx="5213937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절반 미만이면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한 지점에 붙은 것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— 그 축에 위치 치수를 낸다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2393" y="2165699"/>
            <a:ext cx="433197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33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50% 미만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91400" y="2389441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DECEC"/>
          </a:solidFill>
          <a:ln w="9144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10129" y="2431446"/>
            <a:ext cx="157734" cy="15773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3160" y="2447163"/>
            <a:ext cx="5140499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잰 값이 거의 0이면 (끝단에 사실상 붙음) 그리지 않는다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78956" y="2441733"/>
            <a:ext cx="506634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33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DC2626"/>
                </a:solidFill>
                <a:latin typeface="Malgun Gothic"/>
                <a:ea typeface="Malgun Gothic"/>
                <a:cs typeface="Malgun Gothic"/>
              </a:rPr>
              <a:t>3 mm 이하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7632" y="2740914"/>
            <a:ext cx="1121668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③ 놓기 — 도면에는 이렇게 나온다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7632" y="2964942"/>
            <a:ext cx="11216687" cy="2783205"/>
          </a:xfrm>
          <a:prstGeom prst="roundRect">
            <a:avLst>
              <a:gd name="adj" fmla="val 3285"/>
            </a:avLst>
          </a:prstGeom>
          <a:solidFill>
            <a:srgbClr val="F6F9FD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vg20_70_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3063240"/>
            <a:ext cx="10906077" cy="258660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87632" y="5803011"/>
            <a:ext cx="11216687" cy="136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3"/>
              </a:lnSpc>
              <a:spcBef>
                <a:spcPts val="0"/>
              </a:spcBef>
              <a:spcAft>
                <a:spcPts val="0"/>
              </a:spcAft>
            </a:pP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76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뷰 배정</a:t>
            </a: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— 각 위치 치수는 </a:t>
            </a:r>
            <a:r>
              <a:rPr sz="76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그 축이 화면에 길이로 보이는 직교 뷰 2곳</a:t>
            </a: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에만 그린다. 그 축을 정면으로 마주보는 뷰에서는 치수의 두 끝점이 화면상 겹쳐 </a:t>
            </a:r>
            <a:r>
              <a:rPr sz="766" b="1">
                <a:solidFill>
                  <a:srgbClr val="9333EA"/>
                </a:solidFill>
                <a:latin typeface="Malgun Gothic"/>
                <a:ea typeface="Malgun Gothic"/>
                <a:cs typeface="Malgun Gothic"/>
              </a:rPr>
              <a:t>보조선이 하나로 합쳐지고 치수가 뭉개진다</a:t>
            </a: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.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028467"/>
            <a:ext cx="12191952" cy="8295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028467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3945" y="6162341"/>
            <a:ext cx="984980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임계값을 다 걷어냈다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632" y="6154197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7632" y="6346793"/>
            <a:ext cx="5449824" cy="28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예전엔 크기 기준 세 개(비율·최소 길이·상한)로 걸렀지만 예외가 계속 나왔다. 지금은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접합 기하만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본다. 남은 값은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3 mm(거의 0인가)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와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50%(절반을 넘나)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뿐이며, 둘 다 튜닝값이 아니라 자연스러운 갈림길이다.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54353" y="6119907"/>
            <a:ext cx="5449966" cy="614648"/>
          </a:xfrm>
          <a:prstGeom prst="roundRect">
            <a:avLst>
              <a:gd name="adj" fmla="val 11901"/>
            </a:avLst>
          </a:prstGeom>
          <a:solidFill>
            <a:srgbClr val="FDF4E3"/>
          </a:solidFill>
          <a:ln w="9144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13826" y="6198917"/>
            <a:ext cx="1056274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 세 뷰 모두엔 못 넣는다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7513" y="6190773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⚠️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7513" y="6383369"/>
            <a:ext cx="5163645" cy="28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형강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길이 방향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 치수는 끝면을 마주보는 뷰에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물리적으로 그릴 수 없다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. 세 뷰 배정을 시도했다가 보조선이 겹쳐 뭉개진 것을 실제 출력물로 확인하고 2뷰로 되돌렸다.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1907809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룰북 · BOM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1907809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부재 목록 수집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3822" y="219456"/>
            <a:ext cx="550497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1 /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059" y="474345"/>
            <a:ext cx="94126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기준일</a:t>
            </a:r>
            <a:r>
              <a:rPr sz="864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32" y="1061275"/>
            <a:ext cx="4686871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① 가져오기 — 무엇에서 뽑나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32" y="1285303"/>
            <a:ext cx="838247" cy="171735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3D 모델 Body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86744" y="1285303"/>
            <a:ext cx="637079" cy="17173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부재 형상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84689" y="1285303"/>
            <a:ext cx="637079" cy="171735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용도 속성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32" y="1525619"/>
            <a:ext cx="4686871" cy="725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모델 트리에서 </a:t>
            </a:r>
            <a:r>
              <a:rPr sz="78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실제 형상을 가진 말단 부재(Body)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만 가져온다. 조립체·그룹 같은 </a:t>
            </a:r>
            <a:r>
              <a:rPr sz="78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묶음 노드는 대상이 아니다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algn="l">
              <a:lnSpc>
                <a:spcPts val="1143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ts val="114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부재마다 </a:t>
            </a:r>
            <a:r>
              <a:rPr sz="78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차지하는 공간의 최소·최대·중심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을 재고, 원형이면 </a:t>
            </a:r>
            <a:r>
              <a:rPr sz="78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가장 큰 반지름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을, 속성에서 </a:t>
            </a:r>
            <a:r>
              <a:rPr sz="78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용도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를 읽어 함께 담는다.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1400" y="1061275"/>
            <a:ext cx="621291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② 거르기 — 무엇을 목록에 올리나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91400" y="1285303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EAFAF4"/>
          </a:solidFill>
          <a:ln w="9144">
            <a:solidFill>
              <a:srgbClr val="BF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10129" y="1327308"/>
            <a:ext cx="157734" cy="15773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3160" y="1343025"/>
            <a:ext cx="5732430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사용자가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골라 둔 부재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가 있으면 그것만 — 없으면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화면에 보이는 것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91400" y="1561338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10129" y="1603343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3160" y="1619059"/>
            <a:ext cx="5732430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보이는 것도 하나 없으면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전부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담는다 — 빈 목록으로 끝나지 않도록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91400" y="1837372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10129" y="1879377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3160" y="1895094"/>
            <a:ext cx="5732430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부재마다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공간 범위 · 원 반지름 · 용도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를 읽어 붙인다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91400" y="2113407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EAFAF4"/>
          </a:solidFill>
          <a:ln w="9144">
            <a:solidFill>
              <a:srgbClr val="BF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10129" y="2155412"/>
            <a:ext cx="157734" cy="15773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3160" y="2171128"/>
            <a:ext cx="5354526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높이 내림차순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으로 정렬 — 위에 있는 부재가 목록 위로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982" y="2165699"/>
            <a:ext cx="292608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33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Z 최대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91400" y="2389441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10129" y="2431446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3160" y="2447163"/>
            <a:ext cx="5732430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홀·슬롯홀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은 형상을 추측하지 않고 SDK가 찾아 준 결과를 그대로 쓴다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632" y="2740914"/>
            <a:ext cx="1121668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③ 놓기 — 목록이 이렇게 만들어진다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7632" y="2964942"/>
            <a:ext cx="11216687" cy="2783205"/>
          </a:xfrm>
          <a:prstGeom prst="roundRect">
            <a:avLst>
              <a:gd name="adj" fmla="val 3285"/>
            </a:avLst>
          </a:prstGeom>
          <a:solidFill>
            <a:srgbClr val="F6F9FD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vg21_70_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3063240"/>
            <a:ext cx="10906077" cy="258660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87632" y="5803011"/>
            <a:ext cx="11216687" cy="136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3"/>
              </a:lnSpc>
              <a:spcBef>
                <a:spcPts val="0"/>
              </a:spcBef>
              <a:spcAft>
                <a:spcPts val="0"/>
              </a:spcAft>
            </a:pP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목록에는 부재 이름과 함께 </a:t>
            </a:r>
            <a:r>
              <a:rPr sz="76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중심점 · X/Y/Z 범위 · 반지름 · 용도 · 홀 크기</a:t>
            </a: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가 같이 실린다. </a:t>
            </a:r>
            <a:r>
              <a:rPr sz="76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이 목록이 없으면 이후 어떤 도면도 만들 수 없다</a:t>
            </a: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— 치수·시트 분할·가공도가 전부 여기에 기댄다.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028467"/>
            <a:ext cx="12191952" cy="8295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028467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3945" y="6162341"/>
            <a:ext cx="781954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홀 검출을 바꿨다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632" y="6154197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🕳️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632" y="6346793"/>
            <a:ext cx="5449824" cy="28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예전엔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원기둥 형상을 찾아 두께와 맞춰 보는 방식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으로 홀을 추측했으나 부정확했다. 지금은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SDK가 제공하는 홀 정보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를 그대로 쓰며, 도면 BOM·가공도 풍선도 같은 출처를 본다.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54353" y="6119907"/>
            <a:ext cx="5449966" cy="614648"/>
          </a:xfrm>
          <a:prstGeom prst="roundRect">
            <a:avLst>
              <a:gd name="adj" fmla="val 11901"/>
            </a:avLst>
          </a:prstGeom>
          <a:solidFill>
            <a:srgbClr val="FDF4E3"/>
          </a:solidFill>
          <a:ln w="9144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13826" y="6198917"/>
            <a:ext cx="1563766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 번호는 화면 상태에 따라 달라진다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7513" y="6190773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⚠️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7513" y="6383369"/>
            <a:ext cx="5163645" cy="28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부재를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숨기거나 골라 둔 상태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에서 수집하면 목록에 오르는 부재가 달라지고, 그러면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번호도 달라진다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. 도면을 다시 뽑을 땐 같은 화면 상태에서 수집해야 번호가 유지된다.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52" cy="89668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87539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32" y="219456"/>
            <a:ext cx="2397299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31"/>
              </a:lnSpc>
              <a:spcBef>
                <a:spcPts val="0"/>
              </a:spcBef>
              <a:spcAft>
                <a:spcPts val="0"/>
              </a:spcAft>
            </a:pPr>
            <a:r>
              <a:rPr sz="102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룰북 · BOM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32" y="441198"/>
            <a:ext cx="2397299" cy="30232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2381"/>
              </a:lnSpc>
              <a:spcBef>
                <a:spcPts val="0"/>
              </a:spcBef>
              <a:spcAft>
                <a:spcPts val="0"/>
              </a:spcAft>
            </a:pPr>
            <a:r>
              <a:rPr sz="226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도면 BOM 표 작성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3822" y="219456"/>
            <a:ext cx="550497" cy="196596"/>
          </a:xfrm>
          <a:prstGeom prst="roundRect">
            <a:avLst>
              <a:gd name="adj" fmla="val 50000"/>
            </a:avLst>
          </a:prstGeom>
          <a:noFill/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r">
              <a:lnSpc>
                <a:spcPts val="939"/>
              </a:lnSpc>
              <a:spcBef>
                <a:spcPts val="0"/>
              </a:spcBef>
              <a:spcAft>
                <a:spcPts val="0"/>
              </a:spcAft>
            </a:pPr>
            <a:r>
              <a:rPr sz="783" b="1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1 /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059" y="474345"/>
            <a:ext cx="941260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864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기준일</a:t>
            </a:r>
            <a:r>
              <a:rPr sz="864" b="0">
                <a:solidFill>
                  <a:srgbClr val="8A97AC"/>
                </a:solidFill>
                <a:latin typeface="Malgun Gothic"/>
                <a:ea typeface="Malgun Gothic"/>
                <a:cs typeface="Malgun Gothic"/>
              </a:rPr>
              <a:t>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32" y="1061275"/>
            <a:ext cx="4686871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① 가져오기 — 무엇에서 뽑나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32" y="1285303"/>
            <a:ext cx="637079" cy="171735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규격 참조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5576" y="1285303"/>
            <a:ext cx="411194" cy="171735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재질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57635" y="1285303"/>
            <a:ext cx="411194" cy="171735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중량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29694" y="1285303"/>
            <a:ext cx="758237" cy="171735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907"/>
              </a:lnSpc>
              <a:spcBef>
                <a:spcPts val="0"/>
              </a:spcBef>
              <a:spcAft>
                <a:spcPts val="0"/>
              </a:spcAft>
            </a:pPr>
            <a:r>
              <a:rPr sz="756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시작·끝 좌표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632" y="1525619"/>
            <a:ext cx="4686871" cy="5806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4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표의 내용은 형상이 아니라 </a:t>
            </a:r>
            <a:r>
              <a:rPr sz="78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부재에 붙은 속성값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에서 온다. 모델링 단계에서 넣어 둔 값을 읽어 쓰는 것이라, </a:t>
            </a:r>
            <a:r>
              <a:rPr sz="788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속성이 비어 있으면 표도 빈다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algn="l">
              <a:lnSpc>
                <a:spcPts val="1143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ts val="114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번호(No.)만은 속성이 아니라 </a:t>
            </a:r>
            <a:r>
              <a:rPr sz="788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앞 단계에서 정해진 부재 목록 순번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을 그대로 가져온다.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91400" y="1061275"/>
            <a:ext cx="6212919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② 조립하기 — 값을 찾아 표 칸으로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91400" y="1285303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EAFAF4"/>
          </a:solidFill>
          <a:ln w="9144">
            <a:solidFill>
              <a:srgbClr val="BFE3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10129" y="1327308"/>
            <a:ext cx="157734" cy="15773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3160" y="1343025"/>
            <a:ext cx="5102780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부재에 값이 없으면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부모로 거슬러 올라가며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찾는다 — 넷을 다 채우면 멈춤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1237" y="1337595"/>
            <a:ext cx="544353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33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최대 10단계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91400" y="1561338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10129" y="1603343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3160" y="1619059"/>
            <a:ext cx="5732430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규격 참조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를 앞뒤로 쪼갠다 — 앞이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품명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, 뒤가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규격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91400" y="1837372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10129" y="1879377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3160" y="1895094"/>
            <a:ext cx="5732430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시작·끝 좌표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가 있으면 두 점 거리를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길이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로 계산해 규격 뒤에 붙인다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91400" y="2113407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FFFFF"/>
          </a:solidFill>
          <a:ln w="9144">
            <a:solidFill>
              <a:srgbClr val="EEF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10129" y="2155412"/>
            <a:ext cx="157734" cy="157734"/>
          </a:xfrm>
          <a:prstGeom prst="ellipse">
            <a:avLst/>
          </a:prstGeom>
          <a:solidFill>
            <a:srgbClr val="8A97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3160" y="2171128"/>
            <a:ext cx="5732430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중량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은 단위가 섞여 있어 숫자만 뽑아 소수 둘째 자리로 맞춘다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91400" y="2389441"/>
            <a:ext cx="6212919" cy="241744"/>
          </a:xfrm>
          <a:prstGeom prst="roundRect">
            <a:avLst>
              <a:gd name="adj" fmla="val 26477"/>
            </a:avLst>
          </a:prstGeom>
          <a:solidFill>
            <a:srgbClr val="FDECEC"/>
          </a:solidFill>
          <a:ln w="9144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610129" y="2431446"/>
            <a:ext cx="157734" cy="15773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>
            <a:noAutofit/>
          </a:bodyPr>
          <a:lstStyle/>
          <a:p>
            <a:pPr algn="l">
              <a:lnSpc>
                <a:spcPts val="745"/>
              </a:lnSpc>
              <a:spcBef>
                <a:spcPts val="0"/>
              </a:spcBef>
              <a:spcAft>
                <a:spcPts val="0"/>
              </a:spcAft>
            </a:pPr>
            <a:r>
              <a:rPr sz="621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3160" y="2447163"/>
            <a:ext cx="5732430" cy="1263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99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품명을 끝내 못 찾으면 </a:t>
            </a:r>
            <a:r>
              <a:rPr sz="777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unset</a:t>
            </a:r>
            <a:r>
              <a:rPr sz="777" b="0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으로 두고 나머지 칸은 비운다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7632" y="2740914"/>
            <a:ext cx="11216687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907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③ 놓기 — 도면 오른쪽 표에 이렇게 들어간다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7632" y="2964942"/>
            <a:ext cx="11216687" cy="2783205"/>
          </a:xfrm>
          <a:prstGeom prst="roundRect">
            <a:avLst>
              <a:gd name="adj" fmla="val 3285"/>
            </a:avLst>
          </a:prstGeom>
          <a:solidFill>
            <a:srgbClr val="F6F9FD"/>
          </a:solidFill>
          <a:ln w="9144">
            <a:solidFill>
              <a:srgbClr val="DC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vg22_70_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" y="3063240"/>
            <a:ext cx="10906077" cy="258660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87632" y="5803011"/>
            <a:ext cx="11216687" cy="13630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073"/>
              </a:lnSpc>
              <a:spcBef>
                <a:spcPts val="0"/>
              </a:spcBef>
              <a:spcAft>
                <a:spcPts val="0"/>
              </a:spcAft>
            </a:pP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같은 번호가 </a:t>
            </a:r>
            <a:r>
              <a:rPr sz="766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부재 목록 · 도면 BOM 표 · 풍선</a:t>
            </a: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셋에서 일치한다. 표의 첫 줄은 부재 한 개가 아니라 </a:t>
            </a:r>
            <a:r>
              <a:rPr sz="766" b="1">
                <a:solidFill>
                  <a:srgbClr val="1D4ED8"/>
                </a:solidFill>
                <a:latin typeface="Malgun Gothic"/>
                <a:ea typeface="Malgun Gothic"/>
                <a:cs typeface="Malgun Gothic"/>
              </a:rPr>
              <a:t>이 도면 전체의 중량 합계</a:t>
            </a:r>
            <a:r>
              <a:rPr sz="766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다.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028467"/>
            <a:ext cx="12191952" cy="8295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6028467"/>
            <a:ext cx="12191952" cy="9144"/>
          </a:xfrm>
          <a:prstGeom prst="rect">
            <a:avLst/>
          </a:prstGeom>
          <a:solidFill>
            <a:srgbClr val="DC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3945" y="6162341"/>
            <a:ext cx="883396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 왜 부모까지 뒤지나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7632" y="6154197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17233A"/>
                </a:solidFill>
                <a:latin typeface="Malgun Gothic"/>
                <a:ea typeface="Malgun Gothic"/>
                <a:cs typeface="Malgun Gothic"/>
              </a:rPr>
              <a:t>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7632" y="6346793"/>
            <a:ext cx="5449824" cy="28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재질·중량 같은 값은 </a:t>
            </a:r>
            <a:r>
              <a:rPr sz="788" b="1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부재 하나하나가 아니라 상위 묶음에 한 번만</a:t>
            </a:r>
            <a:r>
              <a:rPr sz="788" b="0">
                <a:solidFill>
                  <a:srgbClr val="5C6A82"/>
                </a:solidFill>
                <a:latin typeface="Malgun Gothic"/>
                <a:ea typeface="Malgun Gothic"/>
                <a:cs typeface="Malgun Gothic"/>
              </a:rPr>
              <a:t> 붙어 있는 경우가 많다. 부재에서 못 찾으면 위로 거슬러 올라가야 표가 빈칸으로 남지 않는다.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54353" y="6119907"/>
            <a:ext cx="5449966" cy="614648"/>
          </a:xfrm>
          <a:prstGeom prst="roundRect">
            <a:avLst>
              <a:gd name="adj" fmla="val 11901"/>
            </a:avLst>
          </a:prstGeom>
          <a:solidFill>
            <a:srgbClr val="FDF4E3"/>
          </a:solidFill>
          <a:ln w="9144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13826" y="6198917"/>
            <a:ext cx="1020556" cy="13716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118"/>
              </a:lnSpc>
              <a:spcBef>
                <a:spcPts val="0"/>
              </a:spcBef>
              <a:spcAft>
                <a:spcPts val="0"/>
              </a:spcAft>
            </a:pPr>
            <a:r>
              <a:rPr sz="799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 표가 비면 모델을 보라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97513" y="6190773"/>
            <a:ext cx="155448" cy="15830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47"/>
              </a:lnSpc>
              <a:spcBef>
                <a:spcPts val="0"/>
              </a:spcBef>
              <a:spcAft>
                <a:spcPts val="0"/>
              </a:spcAft>
            </a:pPr>
            <a:r>
              <a:rPr sz="891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⚠️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7513" y="6383369"/>
            <a:ext cx="5163645" cy="280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칸이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unset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이거나 비어 있으면 프로그램 문제가 아니라 </a:t>
            </a:r>
            <a:r>
              <a:rPr sz="788" b="1">
                <a:solidFill>
                  <a:srgbClr val="B45309"/>
                </a:solidFill>
                <a:latin typeface="Malgun Gothic"/>
                <a:ea typeface="Malgun Gothic"/>
                <a:cs typeface="Malgun Gothic"/>
              </a:rPr>
              <a:t>모델에 속성이 안 들어간 것</a:t>
            </a:r>
            <a:r>
              <a:rPr sz="788" b="0">
                <a:solidFill>
                  <a:srgbClr val="8A5A1C"/>
                </a:solidFill>
                <a:latin typeface="Malgun Gothic"/>
                <a:ea typeface="Malgun Gothic"/>
                <a:cs typeface="Malgun Gothic"/>
              </a:rPr>
              <a:t>이다. 부재 정보 탭에서 해당 부재의 속성을 확인·보완할 수 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